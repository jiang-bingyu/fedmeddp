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notesMasterIdLst>
    <p:notesMasterId r:id="rId27"/>
  </p:notesMasterIdLst>
  <p:sldIdLst>
    <p:sldId id="256" r:id="rId7"/>
    <p:sldId id="258" r:id="rId8"/>
    <p:sldId id="259" r:id="rId9"/>
    <p:sldId id="633" r:id="rId10"/>
    <p:sldId id="640" r:id="rId11"/>
    <p:sldId id="626" r:id="rId12"/>
    <p:sldId id="636" r:id="rId13"/>
    <p:sldId id="637" r:id="rId14"/>
    <p:sldId id="641" r:id="rId15"/>
    <p:sldId id="608" r:id="rId16"/>
    <p:sldId id="642" r:id="rId17"/>
    <p:sldId id="630" r:id="rId18"/>
    <p:sldId id="638" r:id="rId19"/>
    <p:sldId id="644" r:id="rId20"/>
    <p:sldId id="646" r:id="rId21"/>
    <p:sldId id="643" r:id="rId22"/>
    <p:sldId id="631" r:id="rId23"/>
    <p:sldId id="639" r:id="rId24"/>
    <p:sldId id="645" r:id="rId25"/>
    <p:sldId id="26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19C"/>
    <a:srgbClr val="185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30" autoAdjust="0"/>
  </p:normalViewPr>
  <p:slideViewPr>
    <p:cSldViewPr snapToGrid="0">
      <p:cViewPr varScale="1">
        <p:scale>
          <a:sx n="103" d="100"/>
          <a:sy n="103" d="100"/>
        </p:scale>
        <p:origin x="12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00E3E-3959-430C-BB54-6E28C6EB4EA8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4982E8-261F-49BF-B3C6-9C29E7A05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030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982E8-261F-49BF-B3C6-9C29E7A05CF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966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982E8-261F-49BF-B3C6-9C29E7A05C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723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982E8-261F-49BF-B3C6-9C29E7A05C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872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982E8-261F-49BF-B3C6-9C29E7A05CF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22907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4982E8-261F-49BF-B3C6-9C29E7A05CF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796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604339-81C3-E73E-E8BA-CD6D5EDA5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71C347-3567-8496-3915-7CF33FCE27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44F98F-D606-4D3B-08B3-8A507110B6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08FDC9-A18A-DF78-1F6C-8F7B7EAF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27C4CC-DC29-16B5-E101-8BF22E272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337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3F7B37-FF80-074D-E899-5046BF051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06EFFE-14D7-5CA7-2F1A-8B01DCC8F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4CDCAC-7D60-A2E8-B1BE-391C6BEA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9B6C5-A5EC-E8C8-D480-00FC21277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0325EB-06B9-3E2E-88A8-E461C23AA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596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49A52E-E0D1-B96F-EBC1-840AB76EC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268961-024E-07F5-583E-AFF451FEA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2CE762-DB8E-C187-800A-45E88055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70BBE25-C7C9-0720-C2D0-D9E11A83C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01FFA8-E769-1711-9299-AF5698A8A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8348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BFA8D-1749-0067-90CF-DDC67B203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8703CC-039E-6C19-FAB0-436D26891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2BDE48-D119-4342-4151-094ADBA98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9E8FC5-EDDB-63B8-E2B3-166C5A0D4B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E914F6-C925-41A5-364C-3B42B180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0EE3007-E45A-1688-CA0D-52F247D6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238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E51E2E-C1A3-9CFA-3861-67D9CBD29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234B828-33E3-6C65-DD5E-428A41A813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2F659E1-F495-C32E-900C-A9092E281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7A8F33-E1E7-65DC-0AF2-B2F9A868B1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4220381-B9D8-0E3A-68BF-FEFD565BD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2260104-4CBF-8C1A-3E46-799F893EE0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D7CBDEF-750C-9641-053A-95B774AC6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4D55DD-CF2C-F45B-462B-AC28EF8E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586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F7C83-38E7-AEC5-B1ED-8B80E428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AD7AE5A-CB61-F3A5-951A-1024186C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893F6AC-2182-312C-351B-404CDB5FF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8EDCE1-818B-CF1E-9865-C8822A0A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58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8A19E74-A651-3B78-1918-ACDB1054BA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CB2087-B4E8-D536-84A2-9B9A6410A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C361BA-4E89-9AA4-D1F4-FEF2B0D8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973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AABE5D-B3CB-6311-FE3B-AD0F35F9E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940A73-0E4B-D93E-8682-535A39F15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349ADB6-BA0C-4574-1912-DA66EE151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838F72-32BF-B85E-80CB-54B35AEDFE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388270-33F1-539F-A453-BFC87314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5F2D1C-E111-7D53-4C70-15EFA79DF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64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33D14-53CE-DAAB-CE07-62A1772AF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779151A-292C-DF05-B77F-F333980C52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E7232F-AA25-DD0C-1EB4-CCE82475E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40B225-53D1-7904-E609-E3B55D2E1D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A71D4B-E44B-2F84-F1EC-659F63E7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FC8499-66F5-6548-EEE2-10F3228EF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945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B59A46-9E6F-AB9C-B550-B0FD6DD8C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3750BF-AB7D-33CA-0605-C6028620A5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47B2CD-897D-3B3C-48AC-26A0EDDB9F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BF8E9-293A-A118-3836-28B9A5531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C6F085-BB12-7623-794D-B65AF45F2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172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602EF80-C738-72B1-39E1-776D330E7C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89BBF6-5925-585A-5C49-10EE7272BF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CB555-9E5B-31F2-1EBD-7C435FA248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2416E1-0BE4-8FEA-AD6E-5886309AD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B59C12-1734-5C39-7B10-90BA6524C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D542FC-5FC9-4721-ADB7-91DC1FC254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8823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6BB420-E670-21C7-2558-25A387BA12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509F7E-F932-3392-3AB7-497FC45080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85F9AC-E937-45F2-34C5-E4D4ED7A2A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4F6A8D-938E-EA72-AD9B-5C0CAF6F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1C4043-E71D-4856-85AB-0524E4307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87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8B1ED4-B198-3F3F-F14A-59C1F35E0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29B2178-69B2-3DEB-B19C-3C6A8BE78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7F0A8A-95A5-29C8-DFD2-F39066B6A4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05A68E-47F0-C863-8CC4-F240DC9E6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059692-C7C2-9479-8CC6-CF89C832B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364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3EA451-DBA9-1B7D-85E2-87966D31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89EBD3-10FC-6CD0-3314-21AC9919E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542649-D331-1664-2E55-CFB06B77AA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BDC1D6-5247-2AB8-D647-BFA1491A5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A0423A-E062-5B6E-34DB-E17966FD4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583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E4AF07-CE40-DB60-11A3-2811DF3707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4FF76B-492B-7EE3-7A22-418C2BDF55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3F37BBA-18E6-E9DE-CC04-960BECF57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75952D-67D4-5606-5A27-3E5ED66C8C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CAB76E-B290-B188-121E-4B25134D8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B05EEE6-608D-1168-8224-403613F8B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4387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C194D-19CF-D3AF-EC98-0658E3B0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A5AD1C8-7E80-454E-4C7B-8B57C0FD8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DA8C4D-B117-FE71-A9B2-5CDE42E053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C99850-079A-AB52-326D-37916FB849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8079A0E-999B-BA80-0C89-04CBB37702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5EDF1D6-26D0-A9F8-8343-A02F109370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54D630-6EE0-A3A5-16FE-C9EEC6F1C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8DA1A4-D8D8-46F7-26A8-A82B1D6E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3308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A05FAB-2BA5-2E79-74A6-1604689D4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DC1D6A4-BEFA-CC7C-0BEA-4D1C603E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382638B-8695-8051-5136-D168DB026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EC40F9-1774-A16F-FF16-9FA333E60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3282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9D840E0-E6B5-3158-FE4B-34CCA723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89906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1230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AF3C59-1123-B0BF-DDEC-F94FCCFFC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50638E-0DA3-5D07-8242-17D187C49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6025BC-A3F7-AC7B-C1E9-8E19A54A5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9EFDD7-D583-1E63-0D6E-45EC1B1F7E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27272A-0C88-740A-1155-3201DE65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CB7C49-BD89-C766-20BC-EFB939174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5179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29EC00-2873-4872-A26B-59FBE85F0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76B7A8-AC5D-9EFF-79D3-28247DA63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F51B5D-7D35-097A-7F95-F5FB74AE7B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808034-C504-03B7-1F7A-855D5DB5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8B7E3E-1724-7522-07A1-47F31C2B5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FAD988-E672-E7DD-CA4F-AB70D93B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4509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C84D23-7046-F7FF-250D-9977D67A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15283F-EF44-F122-523E-0B78F98AA0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B756D5-CA69-5F1B-117A-1815D3F1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45C1EF-A34F-29AF-8089-C154F0FD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8DFA76-2BC0-C5A5-E93C-341F7017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29107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ACF20FC-5F19-BE9E-1EF2-A1079D382B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738717-A596-1629-C250-EBCE198635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1B83F9E-CB1B-D160-C7E6-484400DD2E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63EE3B-2C82-B887-EABF-895B2A74B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2B42FA-0E9E-90A4-DEF7-73A9AD5E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08918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88887E-6B48-B067-7715-FA457DA230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AA4C64-C145-A0DF-A935-F0FCBE6BB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85391-D633-5B1C-1884-8F84231CED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3CE094-9304-EECA-D065-682D5AE0D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D22181-2AE0-9ACA-FFD9-6285CAC05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9301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1C6B5E-5180-CCB9-CE5A-0E11CF52B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7B4C46-0A5C-36E3-EC21-1A24F8D4C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BBB606-5650-FD15-EBAD-C434855013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BF9A82-BEAB-9E93-FE93-3CD70155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FF7F67-FAF3-7CA4-2BD9-F59C02D85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8974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922087-B75D-A45B-4145-5D74C52A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EF82B7-F038-C527-3572-FB8AE9065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A992E1-DE42-94C2-D628-9BB7C16C73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C26ED34-0FBB-BF1D-9AEC-452075D03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17DA4-4C0D-FD5E-7C37-A38998F9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06905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377C9F-256E-ACBE-F125-7A12DCBE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BD8433-F514-4366-5BD8-E88A38D8B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11B65F-63B3-FAD1-926E-4075B2C29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3E3DAD-0613-72DB-DE66-36BDB54B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67AFCCC-9334-A932-F07F-6B0BADDD1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E95AA1-E2C4-9B31-BBAF-DC0F14D4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5476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2567D-FF74-60BB-D931-AA913102B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4B4C58-8BAF-58CC-4A3C-A8D795CBA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5F60E2-ED95-5EAC-D126-49EC57A33E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00CA874-898D-735A-B88F-BFC58F306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39E132C-3701-8594-ADBA-7A75C386D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DFA8E2C-B691-3A32-E38F-5B92036EB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9129919-C573-DFD5-67E1-5B6F6F1F1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513D081-C708-8824-5EE2-EE04B2D62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02892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B0327B-0A8B-F5D2-BA10-F97EF49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A144CC-E0CD-5FDD-F3F5-D4662649D6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592F4BA-4ACE-CC1C-C69F-5BC606F9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E4A64A8-1BC5-E4BE-0A85-10B94671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21463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258163-B2F8-4163-4551-EB62C13B0A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45718C-FE15-0A12-2AAF-051641C9A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EBB28C-E8B5-F2D1-8164-D06E6AEAC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587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D878C-F5E9-ABDC-B61F-26CCBED29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4074082-1833-E9AE-0E54-AE1EC3AF6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F878AC-C740-34F9-1DDD-A6282BEDF6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7D0C7F-EA3E-05FC-8624-BB5BA4010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4BD910-6941-3B4E-C0D1-B0ABE985A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995B135-31B3-51D9-85F6-BAE094F89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069726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E5CCCE-2125-46C4-9104-FA6C7122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50238B8-E688-4E23-2E7C-31F6F5D5A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3298838-CA74-174D-EAFF-FEFD452ECD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9B311C-0D32-0645-EEEE-0A2F1843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39929E-EDB4-11C4-E60A-E5A984D9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7FCC49-B933-323B-BB9A-0AE186E99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4573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A1DA74-EAE0-A420-407B-EB1A6CB87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B7C9220-3420-05C6-D6E2-0914F2053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0CE0A3-1A9B-65E3-5D6C-B5DC19B3B0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6D71F1-4E65-8175-283B-B963995F9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0F19C5-6D96-5144-B082-ED9268ADC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9727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C54CC3-5091-3078-1AE4-76CC7B3EB9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20FA03-DA35-1A5B-71BE-FAF69DA2A4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C9F10A-C59A-AC6F-DA7A-FEA19104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09A4909-7212-4CF0-8A97-B68047DB8760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3961F9-C272-996B-6D5B-266841F4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11C32A-FA89-28E7-C66B-64D3713C0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F14EDEF-BA59-41A4-8F92-2F0C21D3B7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1346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F937A-F4DD-16C6-3EF5-C079181B8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38D5A96-DD04-DB7F-5CD3-27CCDE0535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918A84-6039-3F47-4B2C-C6F71E3A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4E3646-5137-63AD-D4D9-E9C937555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002A7A-62A8-0894-0CAE-FCBCC71A6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908464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B3C06-C0E7-4FF1-9DE4-D2910AAAE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4C9F8-1BF3-B9C7-8C5B-041A2269B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01AF4-940E-5C60-D3D9-47AD621E14E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A2F216-FF23-DE30-DEA9-EBF4C594D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05B594-C207-021B-B1F8-06017DF65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3269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A48959-DC1C-02CE-4652-9250D25D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BC34E9-C6B3-577E-EF82-661210463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2F17DF-CBA0-17D0-FBD8-E86427F2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E8E3A6-D4F0-6F7A-6DC7-434DCA049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839096-BA8E-E2AE-2C15-588435AB4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3717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6A3253-BDA2-F587-9142-3E64A17CD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BC0956-C644-478B-6712-E7755F5EF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E873981-2B13-DCDE-BB14-FE99B0F2C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3F6171-644D-D7E4-4745-9028673A91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731754-FA7E-1013-3750-B04113BB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84FFA8D-859E-806F-44E2-0D86AAB30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767266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1CA94C-7624-8C17-0E70-46E17EA7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167B3E-3028-5575-37C7-A10F31442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C7161A-7420-C32A-B361-31AFFC0F2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0FC4CE2-82F0-77BB-6284-CFCA7D276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8E49F13-31FD-2B6E-2746-F7D3B5D7B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A44218B-D463-0382-D486-1711D07C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72B896-1B19-E819-E468-C4B19D5A0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6EB6E2A-3F16-A5F0-F1B5-87E3A1F2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0241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1D3813-0DDB-3C3C-1E18-800ABBC90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32BC3C-D0B4-1411-BB23-0E01BA97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EFBB54-474A-7177-A20D-2E2EE0D77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4874BE7-DB4E-16FD-990B-861B09C07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28035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5BACFC5-FB94-D448-1226-06A80813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58996A-2A64-DD12-90E1-EB888FF9F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E21886-4061-0506-E570-2ABDC2FD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08269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1381A8-0A42-D666-7AB3-B57C6E7D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7962839-0AA4-34BB-217E-283510550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EFA7EE-B8ED-E5B3-8048-EAE61F3AE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EA6C2DE-F60D-ED85-5C2E-59A6682601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4B36591-F14F-A83D-7D58-05D4949E8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4490A5-9D09-F2C3-1183-A07E3332C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54908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29218B-3463-0C01-28C5-DA2F791D9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E22B42D-1C70-3CE4-8196-AAEB6CC52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403A00-9FD1-847D-B6D1-85907271F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EC9A8F-B476-4A2C-7CDE-006824DCE4D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DCFF11-A835-9AB6-9737-583103C38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AEC885-3497-F1F8-EAD9-D5DCC7640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3426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EB5FD3-55E8-CF57-98D5-C1FA60222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AEC0690-FD39-6F80-E28A-D7E7AB37B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985265-E754-B088-4270-5ECDFA4C73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83C782-E6B1-B510-04C2-52E29459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86935D-8386-B3AC-CDDB-5B27CBD68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23770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F822795-43F6-63E8-13D3-DDDA4F5475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179C43B-E2BB-78FC-EAE3-7936066623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D8C941-67BC-FFB8-2860-CAF65B5D3E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EC8E3B2-1A55-43BC-A730-262869A922E2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8EE65-C71B-3CCB-1446-10309A5B3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D3BDBA-0ABD-E88F-D00A-92E1D8834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EC27D4-79EA-41A0-83EA-80CFB1AF44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6373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196A4-FB81-BE0B-38E6-194C4D801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AA5543-DC02-D3AD-3563-E53BDB216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2C9BF4-694E-B067-9EC8-8E6EEDA71B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CDE5267-73E3-F1A4-CBC9-BCB5CCA07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DA240D-32F6-B896-DA62-8C5FC416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5308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770F79-930F-BEDF-41A4-1835EDF84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E2275D-E85F-704A-BEC0-60F926B8E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35D011-AF70-39C7-23A0-63519C08F9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325A0D-0FDF-7F76-95DD-ADE715502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73B6A3-99E6-271A-71D8-C86EBB8D7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38534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9F8CCD-83CB-BD3E-C334-2B04C6753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C5802C-B16D-EC89-2EA1-A4664A5508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482AF6-685D-C1B2-3DF6-F9AF5574602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EEFADD-AA5D-C4B4-472B-934BBE646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909F04-B1CC-B383-6370-47A9ACA55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81183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B8BCB1-7795-B8CE-8B0F-074C6F325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A29683-D26A-E621-9309-8FACD5EFFD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029E620-2000-4FFD-12F4-2556E2E1E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C4A81E9-F5A1-92BA-205D-38612E739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CA5EB03-7C22-6803-987D-E3094533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4972C1-56B4-74FD-643A-E709BE797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347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9D6CA-F212-A04A-B936-21523128B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38803E-9AC2-4E4E-D54A-095FA880B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97FE5D-4DD0-CD66-A3AE-080C06F77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06E68E3-8766-CFE4-32F4-136287E0E6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A39572A-AFA0-F2DC-2681-0C1CA830C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BF3DB7A-E16E-E3B7-72B6-FF663F1367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74CD500-411A-523F-6558-6841E3297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FF30F6C-1146-A35F-A52C-6E4D31BAA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48671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AEFD6F-B5D7-510D-593C-E395606A4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A79ACBD-3B42-9E3F-4430-0EAE99FB11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BCF7C6-9F07-A7FF-2E96-D241A578A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A1084C-4DD4-09FA-950D-BDDC27AD4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1463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09DF276-63DE-737A-5F75-2148D64D17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15A0ABB-6074-D045-76F2-2E6F75991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10E35-F822-AAC7-03F9-3CA76ADAE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40851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DCB44-DA37-573A-D6B2-893BC326F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FB1BF9-55C3-3AF8-7C28-BD5C1A571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3F143A-1F53-C9AD-D53D-F5F26E2F6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645666-7688-6E89-A370-1AAD03EC2B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3A7443-EB8C-C28C-4F53-E974CE621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657F8-7EA9-1530-5371-F0B48B874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8115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D0569A-CD6A-DBE9-166B-BF761423F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C27410-369D-BA03-633E-F55227CD1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FECD9B-AFD6-F5FF-1D6C-FB3949E8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BAD1F3-0D28-F761-6531-AA9331066A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525DB8-7134-7FC2-48DE-94F21D62F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77E3BA-D205-A327-E517-DEC06C046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79894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30B5BF-3FEB-49A5-A122-8F29F093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218890-723C-8D38-C75F-C2BA248F8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BB5A1A-D4F1-E0A6-A0FA-DE38A4E9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DAAE2F-D5FC-37A9-133C-111C6676F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9BD021-DFCA-B5A0-8E3D-426140663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98758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AD72D2-FAAC-5BE0-EC54-4D85C0FDCB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1EDC26-D64B-86CC-6D6E-033C9075A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3FA75-8385-0FC2-90E9-EC2DAA41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29BD8B5-D387-4DD8-B046-2A8792AD10B7}" type="datetimeFigureOut">
              <a:rPr lang="zh-CN" altLang="en-US" smtClean="0"/>
              <a:t>2026/6/4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5D220A-8E54-86CC-637B-173E6501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68AE03-4342-00DD-332A-54FCF2049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3761F9-719C-4A0B-B0ED-1BACFDDD30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99877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625757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54010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39527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48983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82324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22569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4758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96671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430360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21664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4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8.jp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57.xml"/><Relationship Id="rId16" Type="http://schemas.openxmlformats.org/officeDocument/2006/relationships/image" Target="../media/image6.png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ṡ1íḋe">
            <a:extLst>
              <a:ext uri="{FF2B5EF4-FFF2-40B4-BE49-F238E27FC236}">
                <a16:creationId xmlns:a16="http://schemas.microsoft.com/office/drawing/2014/main" id="{DC2A5F9B-F1F4-F2B2-3897-5D43CE511C9B}"/>
              </a:ext>
            </a:extLst>
          </p:cNvPr>
          <p:cNvSpPr/>
          <p:nvPr userDrawn="1"/>
        </p:nvSpPr>
        <p:spPr>
          <a:xfrm>
            <a:off x="-11552" y="-1"/>
            <a:ext cx="12215105" cy="4581129"/>
          </a:xfrm>
          <a:prstGeom prst="rect">
            <a:avLst/>
          </a:prstGeom>
          <a:solidFill>
            <a:srgbClr val="0E419C"/>
          </a:solidFill>
          <a:ln>
            <a:noFill/>
          </a:ln>
          <a:effectLst>
            <a:outerShdw blurRad="635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8" name="图片 2">
            <a:extLst>
              <a:ext uri="{FF2B5EF4-FFF2-40B4-BE49-F238E27FC236}">
                <a16:creationId xmlns:a16="http://schemas.microsoft.com/office/drawing/2014/main" id="{ABA7B0BF-09EC-7A65-170E-1B090BADC0F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411392" y="288621"/>
            <a:ext cx="5609911" cy="77292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B2DD693-43A9-41B0-E168-D43DCD49233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981" y="4724400"/>
            <a:ext cx="12192000" cy="21336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F85A8F2-8624-87C6-7353-38B57577443A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743795" y="458491"/>
            <a:ext cx="4096226" cy="3644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6075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9CBA377-E8A8-5558-AF1B-5B0364E1B549}"/>
              </a:ext>
            </a:extLst>
          </p:cNvPr>
          <p:cNvSpPr/>
          <p:nvPr userDrawn="1"/>
        </p:nvSpPr>
        <p:spPr>
          <a:xfrm>
            <a:off x="0" y="1673"/>
            <a:ext cx="12192000" cy="7979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14">
            <a:extLst>
              <a:ext uri="{FF2B5EF4-FFF2-40B4-BE49-F238E27FC236}">
                <a16:creationId xmlns:a16="http://schemas.microsoft.com/office/drawing/2014/main" id="{B364DCE4-799C-7979-72C4-01EC5EFAE7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6876" y="6364118"/>
            <a:ext cx="4053004" cy="40198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15">
            <a:extLst>
              <a:ext uri="{FF2B5EF4-FFF2-40B4-BE49-F238E27FC236}">
                <a16:creationId xmlns:a16="http://schemas.microsoft.com/office/drawing/2014/main" id="{EB1E44BA-1F87-CEF9-5A5A-4BC38EE5091C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08475" y="6362738"/>
            <a:ext cx="4053004" cy="395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2">
            <a:extLst>
              <a:ext uri="{FF2B5EF4-FFF2-40B4-BE49-F238E27FC236}">
                <a16:creationId xmlns:a16="http://schemas.microsoft.com/office/drawing/2014/main" id="{E4937AB9-2E05-1F43-8220-5088493D79B8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17270" y="164157"/>
            <a:ext cx="3513247" cy="484047"/>
          </a:xfrm>
          <a:prstGeom prst="rect">
            <a:avLst/>
          </a:prstGeom>
        </p:spPr>
      </p:pic>
      <p:sp>
        <p:nvSpPr>
          <p:cNvPr id="11" name="灯片编号占位符 5">
            <a:extLst>
              <a:ext uri="{FF2B5EF4-FFF2-40B4-BE49-F238E27FC236}">
                <a16:creationId xmlns:a16="http://schemas.microsoft.com/office/drawing/2014/main" id="{9AD23B82-8933-D604-E6F6-920A330442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56830" y="6378635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E0248E6A-FC07-4D0B-B220-0EAEB8121BA9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1C0A44E-6AEB-F8E6-4522-DADAAB9D8B3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13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730" y="1052734"/>
            <a:ext cx="4842540" cy="475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304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>
            <a:extLst>
              <a:ext uri="{FF2B5EF4-FFF2-40B4-BE49-F238E27FC236}">
                <a16:creationId xmlns:a16="http://schemas.microsoft.com/office/drawing/2014/main" id="{95D67F98-7288-2CB0-75EF-D6DF3478EE3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419652" y="612403"/>
            <a:ext cx="5730737" cy="5633192"/>
          </a:xfrm>
          <a:prstGeom prst="rect">
            <a:avLst/>
          </a:prstGeom>
        </p:spPr>
      </p:pic>
      <p:sp>
        <p:nvSpPr>
          <p:cNvPr id="8" name="iṡ1íḋe">
            <a:extLst>
              <a:ext uri="{FF2B5EF4-FFF2-40B4-BE49-F238E27FC236}">
                <a16:creationId xmlns:a16="http://schemas.microsoft.com/office/drawing/2014/main" id="{88242EFE-B563-131E-4273-3CECD311ACC7}"/>
              </a:ext>
            </a:extLst>
          </p:cNvPr>
          <p:cNvSpPr/>
          <p:nvPr userDrawn="1"/>
        </p:nvSpPr>
        <p:spPr>
          <a:xfrm>
            <a:off x="-11551" y="-1"/>
            <a:ext cx="4578845" cy="6858001"/>
          </a:xfrm>
          <a:prstGeom prst="rect">
            <a:avLst/>
          </a:prstGeom>
          <a:solidFill>
            <a:srgbClr val="0E419C"/>
          </a:solidFill>
          <a:ln>
            <a:noFill/>
          </a:ln>
          <a:effectLst>
            <a:outerShdw blurRad="762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CAF9532-7DC4-3DCA-8E4E-12FEEF24666E}"/>
              </a:ext>
            </a:extLst>
          </p:cNvPr>
          <p:cNvSpPr txBox="1"/>
          <p:nvPr userDrawn="1"/>
        </p:nvSpPr>
        <p:spPr>
          <a:xfrm>
            <a:off x="1487488" y="2556657"/>
            <a:ext cx="1569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spc="600" dirty="0">
                <a:solidFill>
                  <a:schemeClr val="bg1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+mn-ea"/>
                <a:sym typeface="+mn-lt"/>
              </a:rPr>
              <a:t>目录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1B312A-E253-5205-8D9B-2C943CEA307A}"/>
              </a:ext>
            </a:extLst>
          </p:cNvPr>
          <p:cNvSpPr txBox="1"/>
          <p:nvPr userDrawn="1"/>
        </p:nvSpPr>
        <p:spPr>
          <a:xfrm>
            <a:off x="1487488" y="3503880"/>
            <a:ext cx="1787669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1400" spc="600" dirty="0">
                <a:solidFill>
                  <a:schemeClr val="bg1"/>
                </a:solidFill>
                <a:cs typeface="+mn-ea"/>
                <a:sym typeface="+mn-lt"/>
              </a:rPr>
              <a:t>CONTENTS</a:t>
            </a:r>
            <a:endParaRPr lang="zh-CN" altLang="en-US" sz="1400" spc="6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B44BFB8-069E-718C-3430-BF80BFA9CA2E}"/>
              </a:ext>
            </a:extLst>
          </p:cNvPr>
          <p:cNvSpPr/>
          <p:nvPr userDrawn="1"/>
        </p:nvSpPr>
        <p:spPr>
          <a:xfrm>
            <a:off x="983433" y="2348880"/>
            <a:ext cx="2592288" cy="1321975"/>
          </a:xfrm>
          <a:custGeom>
            <a:avLst/>
            <a:gdLst>
              <a:gd name="connsiteX0" fmla="*/ 0 w 7010400"/>
              <a:gd name="connsiteY0" fmla="*/ 0 h 1981384"/>
              <a:gd name="connsiteX1" fmla="*/ 7010400 w 7010400"/>
              <a:gd name="connsiteY1" fmla="*/ 0 h 1981384"/>
              <a:gd name="connsiteX2" fmla="*/ 7010400 w 7010400"/>
              <a:gd name="connsiteY2" fmla="*/ 1981384 h 1981384"/>
              <a:gd name="connsiteX3" fmla="*/ 6495669 w 7010400"/>
              <a:gd name="connsiteY3" fmla="*/ 1981384 h 1981384"/>
              <a:gd name="connsiteX4" fmla="*/ 6495669 w 7010400"/>
              <a:gd name="connsiteY4" fmla="*/ 1712044 h 1981384"/>
              <a:gd name="connsiteX5" fmla="*/ 514731 w 7010400"/>
              <a:gd name="connsiteY5" fmla="*/ 1712044 h 1981384"/>
              <a:gd name="connsiteX6" fmla="*/ 514731 w 7010400"/>
              <a:gd name="connsiteY6" fmla="*/ 1981384 h 1981384"/>
              <a:gd name="connsiteX7" fmla="*/ 0 w 7010400"/>
              <a:gd name="connsiteY7" fmla="*/ 1981384 h 1981384"/>
              <a:gd name="connsiteX0-1" fmla="*/ 0 w 7010400"/>
              <a:gd name="connsiteY0-2" fmla="*/ 0 h 1981384"/>
              <a:gd name="connsiteX1-3" fmla="*/ 7010400 w 7010400"/>
              <a:gd name="connsiteY1-4" fmla="*/ 0 h 1981384"/>
              <a:gd name="connsiteX2-5" fmla="*/ 7010400 w 7010400"/>
              <a:gd name="connsiteY2-6" fmla="*/ 1981384 h 1981384"/>
              <a:gd name="connsiteX3-7" fmla="*/ 6495669 w 7010400"/>
              <a:gd name="connsiteY3-8" fmla="*/ 1981384 h 1981384"/>
              <a:gd name="connsiteX4-9" fmla="*/ 6495669 w 7010400"/>
              <a:gd name="connsiteY4-10" fmla="*/ 1712044 h 1981384"/>
              <a:gd name="connsiteX5-11" fmla="*/ 514731 w 7010400"/>
              <a:gd name="connsiteY5-12" fmla="*/ 1981384 h 1981384"/>
              <a:gd name="connsiteX6-13" fmla="*/ 0 w 7010400"/>
              <a:gd name="connsiteY6-14" fmla="*/ 1981384 h 1981384"/>
              <a:gd name="connsiteX7-15" fmla="*/ 0 w 7010400"/>
              <a:gd name="connsiteY7-16" fmla="*/ 0 h 1981384"/>
              <a:gd name="connsiteX0-17" fmla="*/ 6495669 w 7010400"/>
              <a:gd name="connsiteY0-18" fmla="*/ 1712044 h 1981384"/>
              <a:gd name="connsiteX1-19" fmla="*/ 514731 w 7010400"/>
              <a:gd name="connsiteY1-20" fmla="*/ 1981384 h 1981384"/>
              <a:gd name="connsiteX2-21" fmla="*/ 0 w 7010400"/>
              <a:gd name="connsiteY2-22" fmla="*/ 1981384 h 1981384"/>
              <a:gd name="connsiteX3-23" fmla="*/ 0 w 7010400"/>
              <a:gd name="connsiteY3-24" fmla="*/ 0 h 1981384"/>
              <a:gd name="connsiteX4-25" fmla="*/ 7010400 w 7010400"/>
              <a:gd name="connsiteY4-26" fmla="*/ 0 h 1981384"/>
              <a:gd name="connsiteX5-27" fmla="*/ 7010400 w 7010400"/>
              <a:gd name="connsiteY5-28" fmla="*/ 1981384 h 1981384"/>
              <a:gd name="connsiteX6-29" fmla="*/ 6495669 w 7010400"/>
              <a:gd name="connsiteY6-30" fmla="*/ 1981384 h 1981384"/>
              <a:gd name="connsiteX7-31" fmla="*/ 6587109 w 7010400"/>
              <a:gd name="connsiteY7-32" fmla="*/ 1803484 h 1981384"/>
              <a:gd name="connsiteX0-33" fmla="*/ 577469 w 7010400"/>
              <a:gd name="connsiteY0-34" fmla="*/ 3629744 h 3629744"/>
              <a:gd name="connsiteX1-35" fmla="*/ 514731 w 7010400"/>
              <a:gd name="connsiteY1-36" fmla="*/ 1981384 h 3629744"/>
              <a:gd name="connsiteX2-37" fmla="*/ 0 w 7010400"/>
              <a:gd name="connsiteY2-38" fmla="*/ 1981384 h 3629744"/>
              <a:gd name="connsiteX3-39" fmla="*/ 0 w 7010400"/>
              <a:gd name="connsiteY3-40" fmla="*/ 0 h 3629744"/>
              <a:gd name="connsiteX4-41" fmla="*/ 7010400 w 7010400"/>
              <a:gd name="connsiteY4-42" fmla="*/ 0 h 3629744"/>
              <a:gd name="connsiteX5-43" fmla="*/ 7010400 w 7010400"/>
              <a:gd name="connsiteY5-44" fmla="*/ 1981384 h 3629744"/>
              <a:gd name="connsiteX6-45" fmla="*/ 6495669 w 7010400"/>
              <a:gd name="connsiteY6-46" fmla="*/ 1981384 h 3629744"/>
              <a:gd name="connsiteX7-47" fmla="*/ 6587109 w 7010400"/>
              <a:gd name="connsiteY7-48" fmla="*/ 1803484 h 3629744"/>
              <a:gd name="connsiteX0-49" fmla="*/ 514731 w 7010400"/>
              <a:gd name="connsiteY0-50" fmla="*/ 1981384 h 1981384"/>
              <a:gd name="connsiteX1-51" fmla="*/ 0 w 7010400"/>
              <a:gd name="connsiteY1-52" fmla="*/ 1981384 h 1981384"/>
              <a:gd name="connsiteX2-53" fmla="*/ 0 w 7010400"/>
              <a:gd name="connsiteY2-54" fmla="*/ 0 h 1981384"/>
              <a:gd name="connsiteX3-55" fmla="*/ 7010400 w 7010400"/>
              <a:gd name="connsiteY3-56" fmla="*/ 0 h 1981384"/>
              <a:gd name="connsiteX4-57" fmla="*/ 7010400 w 7010400"/>
              <a:gd name="connsiteY4-58" fmla="*/ 1981384 h 1981384"/>
              <a:gd name="connsiteX5-59" fmla="*/ 6495669 w 7010400"/>
              <a:gd name="connsiteY5-60" fmla="*/ 1981384 h 1981384"/>
              <a:gd name="connsiteX6-61" fmla="*/ 6587109 w 7010400"/>
              <a:gd name="connsiteY6-62" fmla="*/ 1803484 h 1981384"/>
              <a:gd name="connsiteX0-63" fmla="*/ 514731 w 7010400"/>
              <a:gd name="connsiteY0-64" fmla="*/ 1981384 h 1981384"/>
              <a:gd name="connsiteX1-65" fmla="*/ 0 w 7010400"/>
              <a:gd name="connsiteY1-66" fmla="*/ 1981384 h 1981384"/>
              <a:gd name="connsiteX2-67" fmla="*/ 0 w 7010400"/>
              <a:gd name="connsiteY2-68" fmla="*/ 0 h 1981384"/>
              <a:gd name="connsiteX3-69" fmla="*/ 7010400 w 7010400"/>
              <a:gd name="connsiteY3-70" fmla="*/ 0 h 1981384"/>
              <a:gd name="connsiteX4-71" fmla="*/ 7010400 w 7010400"/>
              <a:gd name="connsiteY4-72" fmla="*/ 1981384 h 1981384"/>
              <a:gd name="connsiteX5-73" fmla="*/ 6495669 w 7010400"/>
              <a:gd name="connsiteY5-74" fmla="*/ 1981384 h 1981384"/>
              <a:gd name="connsiteX0-75" fmla="*/ 1349388 w 7010400"/>
              <a:gd name="connsiteY0-76" fmla="*/ 1986143 h 1986143"/>
              <a:gd name="connsiteX1-77" fmla="*/ 0 w 7010400"/>
              <a:gd name="connsiteY1-78" fmla="*/ 1981384 h 1986143"/>
              <a:gd name="connsiteX2-79" fmla="*/ 0 w 7010400"/>
              <a:gd name="connsiteY2-80" fmla="*/ 0 h 1986143"/>
              <a:gd name="connsiteX3-81" fmla="*/ 7010400 w 7010400"/>
              <a:gd name="connsiteY3-82" fmla="*/ 0 h 1986143"/>
              <a:gd name="connsiteX4-83" fmla="*/ 7010400 w 7010400"/>
              <a:gd name="connsiteY4-84" fmla="*/ 1981384 h 1986143"/>
              <a:gd name="connsiteX5-85" fmla="*/ 6495669 w 7010400"/>
              <a:gd name="connsiteY5-86" fmla="*/ 1981384 h 1986143"/>
              <a:gd name="connsiteX0-87" fmla="*/ 1349388 w 7010400"/>
              <a:gd name="connsiteY0-88" fmla="*/ 1976626 h 1981384"/>
              <a:gd name="connsiteX1-89" fmla="*/ 0 w 7010400"/>
              <a:gd name="connsiteY1-90" fmla="*/ 1981384 h 1981384"/>
              <a:gd name="connsiteX2-91" fmla="*/ 0 w 7010400"/>
              <a:gd name="connsiteY2-92" fmla="*/ 0 h 1981384"/>
              <a:gd name="connsiteX3-93" fmla="*/ 7010400 w 7010400"/>
              <a:gd name="connsiteY3-94" fmla="*/ 0 h 1981384"/>
              <a:gd name="connsiteX4-95" fmla="*/ 7010400 w 7010400"/>
              <a:gd name="connsiteY4-96" fmla="*/ 1981384 h 1981384"/>
              <a:gd name="connsiteX5-97" fmla="*/ 6495669 w 7010400"/>
              <a:gd name="connsiteY5-98" fmla="*/ 1981384 h 1981384"/>
              <a:gd name="connsiteX0-99" fmla="*/ 1349388 w 7010400"/>
              <a:gd name="connsiteY0-100" fmla="*/ 1981385 h 1981385"/>
              <a:gd name="connsiteX1-101" fmla="*/ 0 w 7010400"/>
              <a:gd name="connsiteY1-102" fmla="*/ 1981384 h 1981385"/>
              <a:gd name="connsiteX2-103" fmla="*/ 0 w 7010400"/>
              <a:gd name="connsiteY2-104" fmla="*/ 0 h 1981385"/>
              <a:gd name="connsiteX3-105" fmla="*/ 7010400 w 7010400"/>
              <a:gd name="connsiteY3-106" fmla="*/ 0 h 1981385"/>
              <a:gd name="connsiteX4-107" fmla="*/ 7010400 w 7010400"/>
              <a:gd name="connsiteY4-108" fmla="*/ 1981384 h 1981385"/>
              <a:gd name="connsiteX5-109" fmla="*/ 6495669 w 7010400"/>
              <a:gd name="connsiteY5-110" fmla="*/ 1981384 h 1981385"/>
              <a:gd name="connsiteX0-111" fmla="*/ 1349388 w 7010400"/>
              <a:gd name="connsiteY0-112" fmla="*/ 1981385 h 1981385"/>
              <a:gd name="connsiteX1-113" fmla="*/ 0 w 7010400"/>
              <a:gd name="connsiteY1-114" fmla="*/ 1981384 h 1981385"/>
              <a:gd name="connsiteX2-115" fmla="*/ 0 w 7010400"/>
              <a:gd name="connsiteY2-116" fmla="*/ 0 h 1981385"/>
              <a:gd name="connsiteX3-117" fmla="*/ 7010400 w 7010400"/>
              <a:gd name="connsiteY3-118" fmla="*/ 0 h 1981385"/>
              <a:gd name="connsiteX4-119" fmla="*/ 7010400 w 7010400"/>
              <a:gd name="connsiteY4-120" fmla="*/ 1981384 h 1981385"/>
              <a:gd name="connsiteX5-121" fmla="*/ 5733943 w 7010400"/>
              <a:gd name="connsiteY5-122" fmla="*/ 1971866 h 1981385"/>
              <a:gd name="connsiteX0-123" fmla="*/ 1349388 w 7010400"/>
              <a:gd name="connsiteY0-124" fmla="*/ 1981385 h 1981385"/>
              <a:gd name="connsiteX1-125" fmla="*/ 0 w 7010400"/>
              <a:gd name="connsiteY1-126" fmla="*/ 1981384 h 1981385"/>
              <a:gd name="connsiteX2-127" fmla="*/ 0 w 7010400"/>
              <a:gd name="connsiteY2-128" fmla="*/ 0 h 1981385"/>
              <a:gd name="connsiteX3-129" fmla="*/ 7010400 w 7010400"/>
              <a:gd name="connsiteY3-130" fmla="*/ 0 h 1981385"/>
              <a:gd name="connsiteX4-131" fmla="*/ 7010400 w 7010400"/>
              <a:gd name="connsiteY4-132" fmla="*/ 1981384 h 1981385"/>
              <a:gd name="connsiteX5-133" fmla="*/ 5733943 w 7010400"/>
              <a:gd name="connsiteY5-134" fmla="*/ 1981384 h 1981385"/>
              <a:gd name="connsiteX0" fmla="*/ 1500505 w 7010400"/>
              <a:gd name="connsiteY0" fmla="*/ 1981385 h 1981385"/>
              <a:gd name="connsiteX1" fmla="*/ 0 w 7010400"/>
              <a:gd name="connsiteY1" fmla="*/ 1981384 h 1981385"/>
              <a:gd name="connsiteX2" fmla="*/ 0 w 7010400"/>
              <a:gd name="connsiteY2" fmla="*/ 0 h 1981385"/>
              <a:gd name="connsiteX3" fmla="*/ 7010400 w 7010400"/>
              <a:gd name="connsiteY3" fmla="*/ 0 h 1981385"/>
              <a:gd name="connsiteX4" fmla="*/ 7010400 w 7010400"/>
              <a:gd name="connsiteY4" fmla="*/ 1981384 h 1981385"/>
              <a:gd name="connsiteX5" fmla="*/ 5733943 w 7010400"/>
              <a:gd name="connsiteY5" fmla="*/ 1981384 h 1981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10400" h="1981385">
                <a:moveTo>
                  <a:pt x="1500505" y="1981385"/>
                </a:moveTo>
                <a:lnTo>
                  <a:pt x="0" y="1981384"/>
                </a:lnTo>
                <a:lnTo>
                  <a:pt x="0" y="0"/>
                </a:lnTo>
                <a:lnTo>
                  <a:pt x="7010400" y="0"/>
                </a:lnTo>
                <a:lnTo>
                  <a:pt x="7010400" y="1981384"/>
                </a:lnTo>
                <a:lnTo>
                  <a:pt x="5733943" y="1981384"/>
                </a:lnTo>
              </a:path>
            </a:pathLst>
          </a:custGeom>
          <a:noFill/>
          <a:ln w="635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2A5192E3-E72B-2770-6F88-95556E720FD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clrChange>
              <a:clrFrom>
                <a:srgbClr val="060606"/>
              </a:clrFrom>
              <a:clrTo>
                <a:srgbClr val="060606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0" b="32195"/>
          <a:stretch/>
        </p:blipFill>
        <p:spPr>
          <a:xfrm>
            <a:off x="11405" y="4365104"/>
            <a:ext cx="4565039" cy="245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83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ṡ1íḋe">
            <a:extLst>
              <a:ext uri="{FF2B5EF4-FFF2-40B4-BE49-F238E27FC236}">
                <a16:creationId xmlns:a16="http://schemas.microsoft.com/office/drawing/2014/main" id="{7E3255E1-7C0B-9969-12E8-560B8A5B0E9D}"/>
              </a:ext>
            </a:extLst>
          </p:cNvPr>
          <p:cNvSpPr/>
          <p:nvPr userDrawn="1"/>
        </p:nvSpPr>
        <p:spPr>
          <a:xfrm>
            <a:off x="-11552" y="2389043"/>
            <a:ext cx="12215105" cy="2079914"/>
          </a:xfrm>
          <a:prstGeom prst="rect">
            <a:avLst/>
          </a:prstGeom>
          <a:solidFill>
            <a:srgbClr val="0E419C"/>
          </a:solidFill>
          <a:ln>
            <a:noFill/>
          </a:ln>
          <a:effectLst>
            <a:outerShdw blurRad="101600" sx="101000" sy="101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9FB4FE5E-B59A-9D0B-9A2F-1891920FA6F7}"/>
              </a:ext>
            </a:extLst>
          </p:cNvPr>
          <p:cNvGrpSpPr/>
          <p:nvPr userDrawn="1"/>
        </p:nvGrpSpPr>
        <p:grpSpPr>
          <a:xfrm flipV="1">
            <a:off x="5211363" y="1431670"/>
            <a:ext cx="1530746" cy="1501386"/>
            <a:chOff x="6095999" y="760163"/>
            <a:chExt cx="1530746" cy="1501386"/>
          </a:xfrm>
          <a:effectLst>
            <a:outerShdw blurRad="50800" dist="38100" dir="18900000" algn="bl" rotWithShape="0">
              <a:prstClr val="black">
                <a:alpha val="30000"/>
              </a:prstClr>
            </a:outerShdw>
          </a:effectLst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E6E2034-44B6-A05F-09C2-F9DEF0A78260}"/>
                </a:ext>
              </a:extLst>
            </p:cNvPr>
            <p:cNvSpPr/>
            <p:nvPr/>
          </p:nvSpPr>
          <p:spPr>
            <a:xfrm>
              <a:off x="6095999" y="760163"/>
              <a:ext cx="1530746" cy="1495808"/>
            </a:xfrm>
            <a:prstGeom prst="ellipse">
              <a:avLst/>
            </a:prstGeom>
            <a:gradFill flip="none" rotWithShape="1">
              <a:gsLst>
                <a:gs pos="6000">
                  <a:srgbClr val="0E419C"/>
                </a:gs>
                <a:gs pos="100000">
                  <a:schemeClr val="accent1">
                    <a:lumMod val="8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6CAEC1D2-2A60-F598-58B8-62B2661C5F5B}"/>
                </a:ext>
              </a:extLst>
            </p:cNvPr>
            <p:cNvSpPr/>
            <p:nvPr/>
          </p:nvSpPr>
          <p:spPr>
            <a:xfrm>
              <a:off x="6176912" y="923874"/>
              <a:ext cx="1368920" cy="133767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0E419C"/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36B96D08-ACB3-D242-6B8B-93952D47A92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981" y="4724400"/>
            <a:ext cx="121920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5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ṡ1íḋe">
            <a:extLst>
              <a:ext uri="{FF2B5EF4-FFF2-40B4-BE49-F238E27FC236}">
                <a16:creationId xmlns:a16="http://schemas.microsoft.com/office/drawing/2014/main" id="{AA23B892-05C6-7172-8852-95476C419F43}"/>
              </a:ext>
            </a:extLst>
          </p:cNvPr>
          <p:cNvSpPr/>
          <p:nvPr userDrawn="1"/>
        </p:nvSpPr>
        <p:spPr>
          <a:xfrm>
            <a:off x="-11552" y="0"/>
            <a:ext cx="12215105" cy="4724400"/>
          </a:xfrm>
          <a:prstGeom prst="rect">
            <a:avLst/>
          </a:prstGeom>
          <a:solidFill>
            <a:srgbClr val="0E419C"/>
          </a:solidFill>
          <a:ln>
            <a:noFill/>
          </a:ln>
          <a:effectLst>
            <a:outerShdw blurRad="1143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F3E2CB7-2CD1-D2E3-1B23-4DFB43D0B51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981" y="4724400"/>
            <a:ext cx="12192000" cy="2133600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6734D290-2F64-61E3-77B2-66017B3D4EAE}"/>
              </a:ext>
            </a:extLst>
          </p:cNvPr>
          <p:cNvGrpSpPr/>
          <p:nvPr userDrawn="1"/>
        </p:nvGrpSpPr>
        <p:grpSpPr>
          <a:xfrm>
            <a:off x="1133278" y="1988840"/>
            <a:ext cx="10376559" cy="1899622"/>
            <a:chOff x="-885305" y="1634156"/>
            <a:chExt cx="10376559" cy="1899622"/>
          </a:xfrm>
        </p:grpSpPr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226EA3D-5678-233F-5637-5C1AAECF3EA9}"/>
                </a:ext>
              </a:extLst>
            </p:cNvPr>
            <p:cNvSpPr txBox="1"/>
            <p:nvPr/>
          </p:nvSpPr>
          <p:spPr>
            <a:xfrm>
              <a:off x="-885305" y="1634156"/>
              <a:ext cx="1037655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6600" b="1" spc="600" baseline="0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+mn-ea"/>
                  <a:sym typeface="+mn-lt"/>
                </a:rPr>
                <a:t>恳请老师同学批评指正！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CE6EA0DC-86D8-53A5-E78F-66A324541E4B}"/>
                </a:ext>
              </a:extLst>
            </p:cNvPr>
            <p:cNvSpPr txBox="1"/>
            <p:nvPr/>
          </p:nvSpPr>
          <p:spPr>
            <a:xfrm>
              <a:off x="2259283" y="3195224"/>
              <a:ext cx="1847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zh-CN" altLang="en-US" sz="1600" spc="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5AEE68A6-9194-3CD4-5B58-7D538B9E3AAC}"/>
              </a:ext>
            </a:extLst>
          </p:cNvPr>
          <p:cNvSpPr txBox="1"/>
          <p:nvPr userDrawn="1"/>
        </p:nvSpPr>
        <p:spPr>
          <a:xfrm>
            <a:off x="3056081" y="3276273"/>
            <a:ext cx="65309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spc="600" dirty="0">
                <a:solidFill>
                  <a:schemeClr val="bg1">
                    <a:alpha val="44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lt"/>
              </a:rPr>
              <a:t>THANKS FOR LISTENING</a:t>
            </a:r>
            <a:endParaRPr lang="zh-CN" altLang="en-US" sz="3200" spc="600" dirty="0">
              <a:solidFill>
                <a:schemeClr val="bg1">
                  <a:alpha val="44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lt"/>
            </a:endParaRPr>
          </a:p>
        </p:txBody>
      </p:sp>
      <p:pic>
        <p:nvPicPr>
          <p:cNvPr id="13" name="图片 2">
            <a:extLst>
              <a:ext uri="{FF2B5EF4-FFF2-40B4-BE49-F238E27FC236}">
                <a16:creationId xmlns:a16="http://schemas.microsoft.com/office/drawing/2014/main" id="{1E274473-54F4-E312-B23C-BFE4597C6A02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431704" y="774835"/>
            <a:ext cx="5112568" cy="704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33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AB8D0C-11B8-E350-DDF9-ECA4F0A7658B}"/>
              </a:ext>
            </a:extLst>
          </p:cNvPr>
          <p:cNvSpPr/>
          <p:nvPr userDrawn="1"/>
        </p:nvSpPr>
        <p:spPr>
          <a:xfrm>
            <a:off x="0" y="1673"/>
            <a:ext cx="12192000" cy="7979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14">
            <a:extLst>
              <a:ext uri="{FF2B5EF4-FFF2-40B4-BE49-F238E27FC236}">
                <a16:creationId xmlns:a16="http://schemas.microsoft.com/office/drawing/2014/main" id="{4F3A2971-CA91-4156-1548-0289877D6D3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26876" y="6364118"/>
            <a:ext cx="4053004" cy="40198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图片 15">
            <a:extLst>
              <a:ext uri="{FF2B5EF4-FFF2-40B4-BE49-F238E27FC236}">
                <a16:creationId xmlns:a16="http://schemas.microsoft.com/office/drawing/2014/main" id="{C7A64F00-FE55-36A5-1994-3E5D7B28EB80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08475" y="6362738"/>
            <a:ext cx="4053004" cy="3952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2">
            <a:extLst>
              <a:ext uri="{FF2B5EF4-FFF2-40B4-BE49-F238E27FC236}">
                <a16:creationId xmlns:a16="http://schemas.microsoft.com/office/drawing/2014/main" id="{1214F926-B6DE-833E-DBC8-E1D0C4B234C3}"/>
              </a:ext>
            </a:extLst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517270" y="164157"/>
            <a:ext cx="3513247" cy="4840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AEDBF6-78FE-1518-4E42-19E2413F7B5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-13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730" y="1052734"/>
            <a:ext cx="4842540" cy="4752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007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2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1A5D5408-2ADC-CE83-F4E9-CF77DC242234}"/>
              </a:ext>
            </a:extLst>
          </p:cNvPr>
          <p:cNvSpPr/>
          <p:nvPr/>
        </p:nvSpPr>
        <p:spPr>
          <a:xfrm>
            <a:off x="8049296" y="727656"/>
            <a:ext cx="3437327" cy="349661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DB884A9-A7EE-C5F6-A16A-6E0CCEE4FD3A}"/>
              </a:ext>
            </a:extLst>
          </p:cNvPr>
          <p:cNvSpPr txBox="1"/>
          <p:nvPr/>
        </p:nvSpPr>
        <p:spPr>
          <a:xfrm>
            <a:off x="334659" y="1437421"/>
            <a:ext cx="115911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spc="13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融合差分隐私的联邦学习医疗影像</a:t>
            </a:r>
            <a:endParaRPr lang="en-US" altLang="zh-CN" sz="4800" b="1" spc="13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协同诊断系统设计与实现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01DDDD-F95B-C06E-59E2-00F03230AFE9}"/>
              </a:ext>
            </a:extLst>
          </p:cNvPr>
          <p:cNvSpPr txBox="1"/>
          <p:nvPr/>
        </p:nvSpPr>
        <p:spPr>
          <a:xfrm>
            <a:off x="266201" y="3727658"/>
            <a:ext cx="11659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汇报人：姜炳宇        指导老师：穆超        汇报时间：</a:t>
            </a:r>
            <a:r>
              <a:rPr lang="en-US" altLang="zh-CN" sz="2000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2026.6.6</a:t>
            </a:r>
            <a:endParaRPr lang="zh-CN" altLang="zh-CN" sz="2000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5E21982-77D7-7D4A-AFEC-8AD4B2BC60F0}"/>
              </a:ext>
            </a:extLst>
          </p:cNvPr>
          <p:cNvSpPr/>
          <p:nvPr/>
        </p:nvSpPr>
        <p:spPr>
          <a:xfrm>
            <a:off x="266201" y="244994"/>
            <a:ext cx="5986849" cy="1192427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250B46-970A-DEBA-EB79-A6F6BC71A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794" y="162257"/>
            <a:ext cx="3755428" cy="88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40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B879A375-5405-964E-88E5-800AD5E0EB78}"/>
              </a:ext>
            </a:extLst>
          </p:cNvPr>
          <p:cNvSpPr/>
          <p:nvPr/>
        </p:nvSpPr>
        <p:spPr>
          <a:xfrm>
            <a:off x="5344732" y="463639"/>
            <a:ext cx="6232332" cy="62076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98F5E2E-2052-E397-FCD2-539C99070749}"/>
              </a:ext>
            </a:extLst>
          </p:cNvPr>
          <p:cNvGrpSpPr/>
          <p:nvPr/>
        </p:nvGrpSpPr>
        <p:grpSpPr>
          <a:xfrm>
            <a:off x="6558750" y="580339"/>
            <a:ext cx="5018314" cy="7065444"/>
            <a:chOff x="6430941" y="1888439"/>
            <a:chExt cx="5018314" cy="7065444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BA4446E4-63BD-DBFA-D6CD-948E9A1A4023}"/>
                </a:ext>
              </a:extLst>
            </p:cNvPr>
            <p:cNvGrpSpPr/>
            <p:nvPr/>
          </p:nvGrpSpPr>
          <p:grpSpPr>
            <a:xfrm>
              <a:off x="6430941" y="1888439"/>
              <a:ext cx="5018314" cy="3347293"/>
              <a:chOff x="6474643" y="1200541"/>
              <a:chExt cx="5018314" cy="3347293"/>
            </a:xfrm>
          </p:grpSpPr>
          <p:grpSp>
            <p:nvGrpSpPr>
              <p:cNvPr id="6" name="组合 5">
                <a:extLst>
                  <a:ext uri="{FF2B5EF4-FFF2-40B4-BE49-F238E27FC236}">
                    <a16:creationId xmlns:a16="http://schemas.microsoft.com/office/drawing/2014/main" id="{22EC6B93-CF29-E45A-8E43-090B5DF6539C}"/>
                  </a:ext>
                </a:extLst>
              </p:cNvPr>
              <p:cNvGrpSpPr/>
              <p:nvPr/>
            </p:nvGrpSpPr>
            <p:grpSpPr>
              <a:xfrm>
                <a:off x="6474643" y="1200541"/>
                <a:ext cx="5018314" cy="3328803"/>
                <a:chOff x="6350000" y="1147981"/>
                <a:chExt cx="5018314" cy="3328803"/>
              </a:xfrm>
            </p:grpSpPr>
            <p:sp>
              <p:nvSpPr>
                <p:cNvPr id="15" name="矩形: 圆角 14">
                  <a:extLst>
                    <a:ext uri="{FF2B5EF4-FFF2-40B4-BE49-F238E27FC236}">
                      <a16:creationId xmlns:a16="http://schemas.microsoft.com/office/drawing/2014/main" id="{316EAD9A-B422-917B-3684-D8522A7E70C7}"/>
                    </a:ext>
                  </a:extLst>
                </p:cNvPr>
                <p:cNvSpPr/>
                <p:nvPr/>
              </p:nvSpPr>
              <p:spPr>
                <a:xfrm>
                  <a:off x="6350000" y="1147981"/>
                  <a:ext cx="5018314" cy="863523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gradFill flip="none" rotWithShape="1">
                    <a:gsLst>
                      <a:gs pos="0">
                        <a:srgbClr val="0E419C"/>
                      </a:gs>
                      <a:gs pos="70000">
                        <a:srgbClr val="0E419C">
                          <a:alpha val="0"/>
                        </a:srgb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6BFF3E0D-F6D2-B529-2B1E-F595870F2769}"/>
                    </a:ext>
                  </a:extLst>
                </p:cNvPr>
                <p:cNvSpPr txBox="1"/>
                <p:nvPr/>
              </p:nvSpPr>
              <p:spPr>
                <a:xfrm>
                  <a:off x="6481030" y="1287356"/>
                  <a:ext cx="850784" cy="58477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zh-CN"/>
                  </a:defPPr>
                  <a:lvl1pPr>
                    <a:defRPr sz="3200">
                      <a:gradFill flip="none" rotWithShape="1">
                        <a:gsLst>
                          <a:gs pos="0">
                            <a:srgbClr val="0070C0"/>
                          </a:gs>
                          <a:gs pos="100000">
                            <a:srgbClr val="123485"/>
                          </a:gs>
                        </a:gsLst>
                        <a:lin ang="5400000" scaled="1"/>
                        <a:tileRect/>
                      </a:gra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defRPr>
                  </a:lvl1pPr>
                </a:lstStyle>
                <a:p>
                  <a:pPr algn="ctr"/>
                  <a:r>
                    <a:rPr lang="en-US" altLang="zh-CN" b="1" dirty="0">
                      <a:gradFill flip="none" rotWithShape="1">
                        <a:gsLst>
                          <a:gs pos="0">
                            <a:srgbClr val="0070C0"/>
                          </a:gs>
                          <a:gs pos="100000">
                            <a:srgbClr val="133789"/>
                          </a:gs>
                        </a:gsLst>
                        <a:lin ang="10800000" scaled="1"/>
                        <a:tileRect/>
                      </a:gra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+mn-lt"/>
                    </a:rPr>
                    <a:t>1</a:t>
                  </a:r>
                  <a:endParaRPr lang="zh-CN" altLang="en-US" b="1" dirty="0">
                    <a:gradFill flip="none" rotWithShape="1">
                      <a:gsLst>
                        <a:gs pos="0">
                          <a:srgbClr val="0070C0"/>
                        </a:gs>
                        <a:gs pos="100000">
                          <a:srgbClr val="133789"/>
                        </a:gs>
                      </a:gsLst>
                      <a:lin ang="10800000" scaled="1"/>
                      <a:tileRect/>
                    </a:gra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  <a:sym typeface="+mn-lt"/>
                  </a:endParaRPr>
                </a:p>
              </p:txBody>
            </p:sp>
            <p:sp>
              <p:nvSpPr>
                <p:cNvPr id="17" name="矩形: 圆角 16">
                  <a:extLst>
                    <a:ext uri="{FF2B5EF4-FFF2-40B4-BE49-F238E27FC236}">
                      <a16:creationId xmlns:a16="http://schemas.microsoft.com/office/drawing/2014/main" id="{5560A3FF-1B34-B03A-CC5F-CC35D628BC7B}"/>
                    </a:ext>
                  </a:extLst>
                </p:cNvPr>
                <p:cNvSpPr/>
                <p:nvPr/>
              </p:nvSpPr>
              <p:spPr>
                <a:xfrm>
                  <a:off x="6350000" y="2380621"/>
                  <a:ext cx="5018314" cy="863523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gradFill flip="none" rotWithShape="1">
                    <a:gsLst>
                      <a:gs pos="0">
                        <a:srgbClr val="133789"/>
                      </a:gs>
                      <a:gs pos="70000">
                        <a:srgbClr val="2A7DDA">
                          <a:alpha val="0"/>
                        </a:srgb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ECC1014-D545-BB1B-415C-4F31235B4445}"/>
                    </a:ext>
                  </a:extLst>
                </p:cNvPr>
                <p:cNvSpPr txBox="1"/>
                <p:nvPr/>
              </p:nvSpPr>
              <p:spPr>
                <a:xfrm>
                  <a:off x="6481030" y="2520588"/>
                  <a:ext cx="850784" cy="58477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zh-CN"/>
                  </a:defPPr>
                  <a:lvl1pPr>
                    <a:defRPr sz="3200">
                      <a:gradFill flip="none" rotWithShape="1">
                        <a:gsLst>
                          <a:gs pos="0">
                            <a:srgbClr val="0070C0"/>
                          </a:gs>
                          <a:gs pos="100000">
                            <a:srgbClr val="133789"/>
                          </a:gs>
                        </a:gsLst>
                        <a:lin ang="10800000" scaled="1"/>
                        <a:tileRect/>
                      </a:gra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defRPr>
                  </a:lvl1pPr>
                </a:lstStyle>
                <a:p>
                  <a:pPr algn="ctr"/>
                  <a:r>
                    <a:rPr lang="en-US" altLang="zh-CN" b="1" dirty="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+mn-lt"/>
                    </a:rPr>
                    <a:t>2</a:t>
                  </a:r>
                  <a:endParaRPr lang="zh-CN" altLang="en-US" b="1" dirty="0">
                    <a:latin typeface="Arial" panose="020B0604020202020204" pitchFamily="34" charset="0"/>
                    <a:ea typeface="+mn-ea"/>
                    <a:cs typeface="Arial" panose="020B0604020202020204" pitchFamily="34" charset="0"/>
                    <a:sym typeface="+mn-lt"/>
                  </a:endParaRPr>
                </a:p>
              </p:txBody>
            </p:sp>
            <p:sp>
              <p:nvSpPr>
                <p:cNvPr id="19" name="矩形: 圆角 18">
                  <a:extLst>
                    <a:ext uri="{FF2B5EF4-FFF2-40B4-BE49-F238E27FC236}">
                      <a16:creationId xmlns:a16="http://schemas.microsoft.com/office/drawing/2014/main" id="{078012DC-E4BF-DB16-55F1-7BD678B2AB85}"/>
                    </a:ext>
                  </a:extLst>
                </p:cNvPr>
                <p:cNvSpPr/>
                <p:nvPr/>
              </p:nvSpPr>
              <p:spPr>
                <a:xfrm>
                  <a:off x="6350000" y="3613261"/>
                  <a:ext cx="5018314" cy="863523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gradFill flip="none" rotWithShape="1">
                    <a:gsLst>
                      <a:gs pos="0">
                        <a:srgbClr val="133789"/>
                      </a:gs>
                      <a:gs pos="70000">
                        <a:srgbClr val="2A7DDA">
                          <a:alpha val="0"/>
                        </a:srgb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35BDB9AD-3E05-FAAE-86E8-A349804648F9}"/>
                    </a:ext>
                  </a:extLst>
                </p:cNvPr>
                <p:cNvSpPr txBox="1"/>
                <p:nvPr/>
              </p:nvSpPr>
              <p:spPr>
                <a:xfrm>
                  <a:off x="6481030" y="3754409"/>
                  <a:ext cx="850784" cy="58477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zh-CN"/>
                  </a:defPPr>
                  <a:lvl1pPr>
                    <a:defRPr sz="3200">
                      <a:gradFill flip="none" rotWithShape="1">
                        <a:gsLst>
                          <a:gs pos="0">
                            <a:srgbClr val="0070C0"/>
                          </a:gs>
                          <a:gs pos="100000">
                            <a:srgbClr val="133789"/>
                          </a:gs>
                        </a:gsLst>
                        <a:lin ang="10800000" scaled="1"/>
                        <a:tileRect/>
                      </a:gra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defRPr>
                  </a:lvl1pPr>
                </a:lstStyle>
                <a:p>
                  <a:pPr algn="ctr"/>
                  <a:r>
                    <a:rPr lang="en-US" altLang="zh-CN" b="1" dirty="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+mn-lt"/>
                    </a:rPr>
                    <a:t>3</a:t>
                  </a:r>
                  <a:endParaRPr lang="zh-CN" altLang="en-US" b="1" dirty="0">
                    <a:latin typeface="Arial" panose="020B0604020202020204" pitchFamily="34" charset="0"/>
                    <a:ea typeface="+mn-ea"/>
                    <a:cs typeface="Arial" panose="020B0604020202020204" pitchFamily="34" charset="0"/>
                    <a:sym typeface="+mn-lt"/>
                  </a:endParaRPr>
                </a:p>
              </p:txBody>
            </p:sp>
          </p:grpSp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1A11EE0C-999A-A6C0-8662-D4B06E845C55}"/>
                  </a:ext>
                </a:extLst>
              </p:cNvPr>
              <p:cNvSpPr txBox="1"/>
              <p:nvPr/>
            </p:nvSpPr>
            <p:spPr>
              <a:xfrm>
                <a:off x="7523282" y="1338711"/>
                <a:ext cx="19287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b="1" spc="600" dirty="0">
                    <a:solidFill>
                      <a:srgbClr val="0E419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研究背景</a:t>
                </a:r>
              </a:p>
            </p:txBody>
          </p:sp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A2C7E69-D1CA-3B04-4C6E-5FD9FBA82611}"/>
                  </a:ext>
                </a:extLst>
              </p:cNvPr>
              <p:cNvSpPr txBox="1"/>
              <p:nvPr/>
            </p:nvSpPr>
            <p:spPr>
              <a:xfrm>
                <a:off x="7523287" y="3835972"/>
                <a:ext cx="19287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b="1" spc="600" dirty="0">
                    <a:solidFill>
                      <a:srgbClr val="0E419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实现流程</a:t>
                </a:r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5BA4FAC-C380-5F9D-33A2-902C6E11DDEB}"/>
                  </a:ext>
                </a:extLst>
              </p:cNvPr>
              <p:cNvSpPr txBox="1"/>
              <p:nvPr/>
            </p:nvSpPr>
            <p:spPr>
              <a:xfrm>
                <a:off x="7517675" y="2603332"/>
                <a:ext cx="19399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b="1" spc="600" dirty="0">
                    <a:solidFill>
                      <a:srgbClr val="0E419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系统设计</a:t>
                </a:r>
              </a:p>
            </p:txBody>
          </p: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8351E83-0050-5188-9077-B89CD92CEB6B}"/>
                  </a:ext>
                </a:extLst>
              </p:cNvPr>
              <p:cNvSpPr txBox="1"/>
              <p:nvPr userDrawn="1"/>
            </p:nvSpPr>
            <p:spPr>
              <a:xfrm>
                <a:off x="7254014" y="4270835"/>
                <a:ext cx="32535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spc="300" dirty="0">
                    <a:solidFill>
                      <a:schemeClr val="bg1">
                        <a:lumMod val="75000"/>
                      </a:schemeClr>
                    </a:solidFill>
                  </a:rPr>
                  <a:t>Implementation Process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29D3DD56-B71C-D028-E412-4B4195B1FE4D}"/>
                  </a:ext>
                </a:extLst>
              </p:cNvPr>
              <p:cNvSpPr txBox="1"/>
              <p:nvPr/>
            </p:nvSpPr>
            <p:spPr>
              <a:xfrm>
                <a:off x="7630369" y="3024600"/>
                <a:ext cx="32535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spc="300" dirty="0">
                    <a:solidFill>
                      <a:schemeClr val="bg1">
                        <a:lumMod val="75000"/>
                      </a:schemeClr>
                    </a:solidFill>
                  </a:rPr>
                  <a:t>System Design</a:t>
                </a: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043C766-CF40-8154-06DE-2793F393C6AF}"/>
                  </a:ext>
                </a:extLst>
              </p:cNvPr>
              <p:cNvSpPr txBox="1"/>
              <p:nvPr userDrawn="1"/>
            </p:nvSpPr>
            <p:spPr>
              <a:xfrm>
                <a:off x="7254015" y="1784879"/>
                <a:ext cx="32535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spc="300" dirty="0">
                    <a:solidFill>
                      <a:schemeClr val="bg1">
                        <a:lumMod val="75000"/>
                      </a:schemeClr>
                    </a:solidFill>
                  </a:rPr>
                  <a:t> Research Background</a:t>
                </a:r>
                <a:endParaRPr lang="zh-CN" altLang="en-US" sz="1200" spc="3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71B6C0CF-CEB9-84BD-C29F-155E3F9913B3}"/>
                </a:ext>
              </a:extLst>
            </p:cNvPr>
            <p:cNvGrpSpPr/>
            <p:nvPr/>
          </p:nvGrpSpPr>
          <p:grpSpPr>
            <a:xfrm>
              <a:off x="6430941" y="5604849"/>
              <a:ext cx="5018314" cy="3349034"/>
              <a:chOff x="6474643" y="1200541"/>
              <a:chExt cx="5018314" cy="3349034"/>
            </a:xfrm>
          </p:grpSpPr>
          <p:grpSp>
            <p:nvGrpSpPr>
              <p:cNvPr id="34" name="组合 33">
                <a:extLst>
                  <a:ext uri="{FF2B5EF4-FFF2-40B4-BE49-F238E27FC236}">
                    <a16:creationId xmlns:a16="http://schemas.microsoft.com/office/drawing/2014/main" id="{D2795233-0540-F3DA-E3F5-09E66A442469}"/>
                  </a:ext>
                </a:extLst>
              </p:cNvPr>
              <p:cNvGrpSpPr/>
              <p:nvPr/>
            </p:nvGrpSpPr>
            <p:grpSpPr>
              <a:xfrm>
                <a:off x="6474643" y="1200541"/>
                <a:ext cx="5018314" cy="2096163"/>
                <a:chOff x="6350000" y="1147981"/>
                <a:chExt cx="5018314" cy="2096163"/>
              </a:xfrm>
            </p:grpSpPr>
            <p:sp>
              <p:nvSpPr>
                <p:cNvPr id="41" name="矩形: 圆角 40">
                  <a:extLst>
                    <a:ext uri="{FF2B5EF4-FFF2-40B4-BE49-F238E27FC236}">
                      <a16:creationId xmlns:a16="http://schemas.microsoft.com/office/drawing/2014/main" id="{5839BAEB-992A-1FD0-7BD4-8F5957A140C4}"/>
                    </a:ext>
                  </a:extLst>
                </p:cNvPr>
                <p:cNvSpPr/>
                <p:nvPr/>
              </p:nvSpPr>
              <p:spPr>
                <a:xfrm>
                  <a:off x="6350000" y="1147981"/>
                  <a:ext cx="5018314" cy="863523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gradFill flip="none" rotWithShape="1">
                    <a:gsLst>
                      <a:gs pos="0">
                        <a:srgbClr val="0E419C"/>
                      </a:gs>
                      <a:gs pos="70000">
                        <a:srgbClr val="0E419C">
                          <a:alpha val="0"/>
                        </a:srgb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2" name="文本框 41">
                  <a:extLst>
                    <a:ext uri="{FF2B5EF4-FFF2-40B4-BE49-F238E27FC236}">
                      <a16:creationId xmlns:a16="http://schemas.microsoft.com/office/drawing/2014/main" id="{1E1B0725-7E46-DCD8-18FE-153B56299170}"/>
                    </a:ext>
                  </a:extLst>
                </p:cNvPr>
                <p:cNvSpPr txBox="1"/>
                <p:nvPr/>
              </p:nvSpPr>
              <p:spPr>
                <a:xfrm>
                  <a:off x="6481030" y="1287356"/>
                  <a:ext cx="850784" cy="58477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zh-CN"/>
                  </a:defPPr>
                  <a:lvl1pPr>
                    <a:defRPr sz="3200">
                      <a:gradFill flip="none" rotWithShape="1">
                        <a:gsLst>
                          <a:gs pos="0">
                            <a:srgbClr val="0070C0"/>
                          </a:gs>
                          <a:gs pos="100000">
                            <a:srgbClr val="123485"/>
                          </a:gs>
                        </a:gsLst>
                        <a:lin ang="5400000" scaled="1"/>
                        <a:tileRect/>
                      </a:gra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defRPr>
                  </a:lvl1pPr>
                </a:lstStyle>
                <a:p>
                  <a:pPr algn="ctr"/>
                  <a:r>
                    <a:rPr lang="en-US" altLang="zh-CN" b="1" dirty="0">
                      <a:gradFill flip="none" rotWithShape="1">
                        <a:gsLst>
                          <a:gs pos="0">
                            <a:srgbClr val="0070C0"/>
                          </a:gs>
                          <a:gs pos="100000">
                            <a:srgbClr val="133789"/>
                          </a:gs>
                        </a:gsLst>
                        <a:lin ang="10800000" scaled="1"/>
                        <a:tileRect/>
                      </a:gradFill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+mn-lt"/>
                    </a:rPr>
                    <a:t>4</a:t>
                  </a:r>
                  <a:endParaRPr lang="zh-CN" altLang="en-US" b="1" dirty="0">
                    <a:gradFill flip="none" rotWithShape="1">
                      <a:gsLst>
                        <a:gs pos="0">
                          <a:srgbClr val="0070C0"/>
                        </a:gs>
                        <a:gs pos="100000">
                          <a:srgbClr val="133789"/>
                        </a:gs>
                      </a:gsLst>
                      <a:lin ang="10800000" scaled="1"/>
                      <a:tileRect/>
                    </a:gra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  <a:sym typeface="+mn-lt"/>
                  </a:endParaRPr>
                </a:p>
              </p:txBody>
            </p:sp>
            <p:sp>
              <p:nvSpPr>
                <p:cNvPr id="43" name="矩形: 圆角 42">
                  <a:extLst>
                    <a:ext uri="{FF2B5EF4-FFF2-40B4-BE49-F238E27FC236}">
                      <a16:creationId xmlns:a16="http://schemas.microsoft.com/office/drawing/2014/main" id="{4AD6DFA2-C944-F060-EDE7-28B06B55F6A5}"/>
                    </a:ext>
                  </a:extLst>
                </p:cNvPr>
                <p:cNvSpPr/>
                <p:nvPr/>
              </p:nvSpPr>
              <p:spPr>
                <a:xfrm>
                  <a:off x="6350000" y="2380621"/>
                  <a:ext cx="5018314" cy="863523"/>
                </a:xfrm>
                <a:prstGeom prst="roundRect">
                  <a:avLst>
                    <a:gd name="adj" fmla="val 50000"/>
                  </a:avLst>
                </a:prstGeom>
                <a:noFill/>
                <a:ln>
                  <a:gradFill flip="none" rotWithShape="1">
                    <a:gsLst>
                      <a:gs pos="0">
                        <a:srgbClr val="133789"/>
                      </a:gs>
                      <a:gs pos="70000">
                        <a:srgbClr val="2A7DDA">
                          <a:alpha val="0"/>
                        </a:srgbClr>
                      </a:gs>
                    </a:gsLst>
                    <a:lin ang="0" scaled="1"/>
                    <a:tileRect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FF419305-637E-EE06-95F3-E3B2C99999B1}"/>
                    </a:ext>
                  </a:extLst>
                </p:cNvPr>
                <p:cNvSpPr txBox="1"/>
                <p:nvPr/>
              </p:nvSpPr>
              <p:spPr>
                <a:xfrm>
                  <a:off x="6481030" y="2520588"/>
                  <a:ext cx="850784" cy="584775"/>
                </a:xfrm>
                <a:prstGeom prst="rect">
                  <a:avLst/>
                </a:prstGeom>
                <a:noFill/>
              </p:spPr>
              <p:txBody>
                <a:bodyPr wrap="square" anchor="ctr">
                  <a:spAutoFit/>
                </a:bodyPr>
                <a:lstStyle>
                  <a:defPPr>
                    <a:defRPr lang="zh-CN"/>
                  </a:defPPr>
                  <a:lvl1pPr>
                    <a:defRPr sz="3200">
                      <a:gradFill flip="none" rotWithShape="1">
                        <a:gsLst>
                          <a:gs pos="0">
                            <a:srgbClr val="0070C0"/>
                          </a:gs>
                          <a:gs pos="100000">
                            <a:srgbClr val="133789"/>
                          </a:gs>
                        </a:gsLst>
                        <a:lin ang="10800000" scaled="1"/>
                        <a:tileRect/>
                      </a:gradFill>
                      <a:latin typeface="思源黑体 CN Bold" panose="020B0800000000000000" pitchFamily="34" charset="-122"/>
                      <a:ea typeface="思源黑体 CN Bold" panose="020B0800000000000000" pitchFamily="34" charset="-122"/>
                    </a:defRPr>
                  </a:lvl1pPr>
                </a:lstStyle>
                <a:p>
                  <a:pPr algn="ctr"/>
                  <a:r>
                    <a:rPr lang="en-US" altLang="zh-CN" b="1" dirty="0">
                      <a:latin typeface="Arial" panose="020B0604020202020204" pitchFamily="34" charset="0"/>
                      <a:ea typeface="+mn-ea"/>
                      <a:cs typeface="Arial" panose="020B0604020202020204" pitchFamily="34" charset="0"/>
                      <a:sym typeface="+mn-lt"/>
                    </a:rPr>
                    <a:t>5</a:t>
                  </a:r>
                  <a:endParaRPr lang="zh-CN" altLang="en-US" b="1" dirty="0">
                    <a:latin typeface="Arial" panose="020B0604020202020204" pitchFamily="34" charset="0"/>
                    <a:ea typeface="+mn-ea"/>
                    <a:cs typeface="Arial" panose="020B0604020202020204" pitchFamily="34" charset="0"/>
                    <a:sym typeface="+mn-lt"/>
                  </a:endParaRPr>
                </a:p>
              </p:txBody>
            </p:sp>
          </p:grp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AEC82446-23CC-8AF8-FE6F-394956B94138}"/>
                  </a:ext>
                </a:extLst>
              </p:cNvPr>
              <p:cNvSpPr txBox="1"/>
              <p:nvPr/>
            </p:nvSpPr>
            <p:spPr>
              <a:xfrm>
                <a:off x="7523283" y="1370692"/>
                <a:ext cx="192873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800" b="1" spc="600" dirty="0">
                    <a:solidFill>
                      <a:srgbClr val="0E419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实验结果</a:t>
                </a: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6515E3A5-E507-2AA7-E8EE-58BE87A7D73D}"/>
                  </a:ext>
                </a:extLst>
              </p:cNvPr>
              <p:cNvSpPr txBox="1"/>
              <p:nvPr/>
            </p:nvSpPr>
            <p:spPr>
              <a:xfrm>
                <a:off x="8395286" y="3835972"/>
                <a:ext cx="1847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zh-CN" altLang="en-US" sz="2800" spc="600" dirty="0">
                  <a:solidFill>
                    <a:srgbClr val="0E419C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DB352362-C78A-4173-C9E1-D92285A6A6FC}"/>
                  </a:ext>
                </a:extLst>
              </p:cNvPr>
              <p:cNvSpPr txBox="1"/>
              <p:nvPr/>
            </p:nvSpPr>
            <p:spPr>
              <a:xfrm>
                <a:off x="8395286" y="2603332"/>
                <a:ext cx="18473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zh-CN" altLang="en-US" sz="2800" spc="600" dirty="0">
                  <a:solidFill>
                    <a:srgbClr val="0E419C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065973DB-A1F8-8ED4-A10F-B4FD3D120609}"/>
                  </a:ext>
                </a:extLst>
              </p:cNvPr>
              <p:cNvSpPr txBox="1"/>
              <p:nvPr userDrawn="1"/>
            </p:nvSpPr>
            <p:spPr>
              <a:xfrm>
                <a:off x="7357047" y="4272576"/>
                <a:ext cx="32535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spc="300" dirty="0">
                    <a:solidFill>
                      <a:schemeClr val="bg1">
                        <a:lumMod val="75000"/>
                      </a:schemeClr>
                    </a:solidFill>
                  </a:rPr>
                  <a:t>  </a:t>
                </a:r>
              </a:p>
            </p:txBody>
          </p: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CC159314-05ED-58F0-F677-9F13672C6E69}"/>
                  </a:ext>
                </a:extLst>
              </p:cNvPr>
              <p:cNvSpPr txBox="1"/>
              <p:nvPr userDrawn="1"/>
            </p:nvSpPr>
            <p:spPr>
              <a:xfrm>
                <a:off x="7357047" y="1795478"/>
                <a:ext cx="32535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spc="300" dirty="0">
                    <a:solidFill>
                      <a:schemeClr val="bg1">
                        <a:lumMod val="75000"/>
                      </a:schemeClr>
                    </a:solidFill>
                  </a:rPr>
                  <a:t>Experimental Results</a:t>
                </a:r>
                <a:endParaRPr lang="zh-CN" altLang="en-US" sz="1200" spc="300" dirty="0">
                  <a:solidFill>
                    <a:schemeClr val="bg1">
                      <a:lumMod val="75000"/>
                    </a:schemeClr>
                  </a:solidFill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213B9C63-71E3-E0D2-5AB0-52B6F1D84564}"/>
              </a:ext>
            </a:extLst>
          </p:cNvPr>
          <p:cNvSpPr txBox="1"/>
          <p:nvPr/>
        </p:nvSpPr>
        <p:spPr>
          <a:xfrm>
            <a:off x="7535118" y="5671504"/>
            <a:ext cx="21196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b="1" spc="600" dirty="0">
                <a:solidFill>
                  <a:srgbClr val="0E41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总结展望</a:t>
            </a:r>
            <a:endParaRPr kumimoji="0" lang="zh-CN" altLang="en-US" sz="2800" b="1" i="0" u="none" strike="noStrike" kern="1200" cap="none" spc="600" normalizeH="0" baseline="0" noProof="0" dirty="0">
              <a:ln>
                <a:noFill/>
              </a:ln>
              <a:solidFill>
                <a:srgbClr val="0E419C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B78121C-693B-19E9-5906-23B2E2868354}"/>
              </a:ext>
            </a:extLst>
          </p:cNvPr>
          <p:cNvSpPr txBox="1"/>
          <p:nvPr/>
        </p:nvSpPr>
        <p:spPr>
          <a:xfrm>
            <a:off x="7535118" y="6115913"/>
            <a:ext cx="3253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spc="300" dirty="0">
                <a:solidFill>
                  <a:schemeClr val="bg1">
                    <a:lumMod val="75000"/>
                  </a:schemeClr>
                </a:solidFill>
              </a:rPr>
              <a:t>Conclusion Outlook</a:t>
            </a:r>
            <a:endParaRPr lang="zh-CN" altLang="en-US" sz="1200" spc="3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390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23A7896-489B-667D-9A21-FFB28232C6D0}"/>
              </a:ext>
            </a:extLst>
          </p:cNvPr>
          <p:cNvSpPr txBox="1"/>
          <p:nvPr/>
        </p:nvSpPr>
        <p:spPr>
          <a:xfrm>
            <a:off x="5640785" y="1548353"/>
            <a:ext cx="6767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rgbClr val="0E4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endParaRPr lang="zh-CN" altLang="en-US" sz="6600" b="1" dirty="0">
              <a:solidFill>
                <a:srgbClr val="0E41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B79E1A2-E71E-A4C7-3E76-DCC433950B3C}"/>
              </a:ext>
            </a:extLst>
          </p:cNvPr>
          <p:cNvGrpSpPr/>
          <p:nvPr/>
        </p:nvGrpSpPr>
        <p:grpSpPr>
          <a:xfrm>
            <a:off x="4387037" y="3083379"/>
            <a:ext cx="3417923" cy="1236772"/>
            <a:chOff x="748484" y="2267746"/>
            <a:chExt cx="3417923" cy="1236772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3DEB885-72AF-532E-D93C-53D8FB7B6B1C}"/>
                </a:ext>
              </a:extLst>
            </p:cNvPr>
            <p:cNvSpPr txBox="1"/>
            <p:nvPr/>
          </p:nvSpPr>
          <p:spPr>
            <a:xfrm>
              <a:off x="980119" y="2267746"/>
              <a:ext cx="29546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研究背景</a:t>
              </a:r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A65DA1CB-4DE7-7F9D-D606-A37E4628C8D4}"/>
                </a:ext>
              </a:extLst>
            </p:cNvPr>
            <p:cNvSpPr txBox="1"/>
            <p:nvPr/>
          </p:nvSpPr>
          <p:spPr>
            <a:xfrm>
              <a:off x="748484" y="3196741"/>
              <a:ext cx="341792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Research Background</a:t>
              </a:r>
              <a:endParaRPr lang="zh-CN" altLang="en-US" sz="1400" spc="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184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1AC9A-422B-ED99-DCAD-6AE75248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66F21E-1A41-3E09-E560-0E10C3854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5C763A-6BBC-C5D4-D22D-E8B1DA22FB5D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1.1 </a:t>
            </a:r>
            <a:r>
              <a:rPr lang="zh-CN" altLang="en-US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研究背景与意义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8888D4E-7C69-DC22-4782-4BB7E8330070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6809BA-7429-F1AB-BABD-A727DC11C2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7A9234DB-0C79-9EFE-3FE0-4B7947DA1D67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3B5D5D1-AFF5-92D8-5D53-75955E1992FB}"/>
              </a:ext>
            </a:extLst>
          </p:cNvPr>
          <p:cNvGrpSpPr/>
          <p:nvPr/>
        </p:nvGrpSpPr>
        <p:grpSpPr>
          <a:xfrm>
            <a:off x="729811" y="1534317"/>
            <a:ext cx="5047026" cy="3844801"/>
            <a:chOff x="497100" y="1118132"/>
            <a:chExt cx="2177417" cy="333359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E2CEFCA-B086-61FE-B48D-6F348B5AF65D}"/>
                </a:ext>
              </a:extLst>
            </p:cNvPr>
            <p:cNvSpPr/>
            <p:nvPr/>
          </p:nvSpPr>
          <p:spPr>
            <a:xfrm>
              <a:off x="497102" y="1118133"/>
              <a:ext cx="2177413" cy="2937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康帅slide5">
              <a:extLst>
                <a:ext uri="{FF2B5EF4-FFF2-40B4-BE49-F238E27FC236}">
                  <a16:creationId xmlns:a16="http://schemas.microsoft.com/office/drawing/2014/main" id="{7CACD8C6-C2F5-FBE2-DC30-31A489F38DEE}"/>
                </a:ext>
              </a:extLst>
            </p:cNvPr>
            <p:cNvSpPr txBox="1"/>
            <p:nvPr/>
          </p:nvSpPr>
          <p:spPr>
            <a:xfrm>
              <a:off x="497102" y="1118132"/>
              <a:ext cx="2177415" cy="433867"/>
            </a:xfrm>
            <a:prstGeom prst="roundRect">
              <a:avLst/>
            </a:prstGeom>
            <a:solidFill>
              <a:srgbClr val="0E41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16" name="康帅slide17">
              <a:extLst>
                <a:ext uri="{FF2B5EF4-FFF2-40B4-BE49-F238E27FC236}">
                  <a16:creationId xmlns:a16="http://schemas.microsoft.com/office/drawing/2014/main" id="{0EF020A0-79CA-2143-6DC5-4D766E023D67}"/>
                </a:ext>
              </a:extLst>
            </p:cNvPr>
            <p:cNvSpPr txBox="1"/>
            <p:nvPr/>
          </p:nvSpPr>
          <p:spPr>
            <a:xfrm flipH="1">
              <a:off x="525578" y="1154875"/>
              <a:ext cx="2073432" cy="345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4400" b="0" i="0" u="none" strike="noStrike" cap="none" spc="0" normalizeH="0" baseline="0">
                  <a:ln>
                    <a:noFill/>
                  </a:ln>
                  <a:gradFill>
                    <a:gsLst>
                      <a:gs pos="21000">
                        <a:srgbClr val="3950FD"/>
                      </a:gs>
                      <a:gs pos="100000">
                        <a:srgbClr val="2F79FF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研究背景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康帅slide18">
              <a:extLst>
                <a:ext uri="{FF2B5EF4-FFF2-40B4-BE49-F238E27FC236}">
                  <a16:creationId xmlns:a16="http://schemas.microsoft.com/office/drawing/2014/main" id="{3FCE48C0-2A49-3103-2360-1CAF8021CBD7}"/>
                </a:ext>
              </a:extLst>
            </p:cNvPr>
            <p:cNvSpPr txBox="1"/>
            <p:nvPr/>
          </p:nvSpPr>
          <p:spPr>
            <a:xfrm>
              <a:off x="497100" y="1821103"/>
              <a:ext cx="2177413" cy="26306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marR="0" lvl="0" indent="-285750" defTabSz="914400" rtl="0" eaLnBrk="1" fontAlgn="t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医疗影像数据价值高，但分散在不同机构，直接集中存在隐私和合规风险。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marR="0" lvl="0" indent="-285750" defTabSz="914400" rtl="0" eaLnBrk="1" fontAlgn="t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marR="0" lvl="0" indent="-285750" defTabSz="914400" rtl="0" eaLnBrk="1" fontAlgn="t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联邦学习支持“数据不出本地”，但模型更新仍可能泄露训练信息。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marR="0" lvl="0" indent="-285750" defTabSz="914400" rtl="0" eaLnBrk="1" fontAlgn="t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marR="0" lvl="0" indent="-285750" defTabSz="914400" rtl="0" eaLnBrk="1" fontAlgn="t" latinLnBrk="0" hangingPunct="1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SzTx/>
                <a:buFont typeface="Wingdings" panose="05000000000000000000" pitchFamily="2" charset="2"/>
                <a:buChar char="l"/>
                <a:tabLst/>
                <a:defRPr/>
              </a:pPr>
              <a:r>
                <a: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需要结合差分隐私和攻击评估，提升协同训练过程的隐私保护能力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E658DB0-7D6A-C4DD-32FF-CBC0D3FBEFA5}"/>
              </a:ext>
            </a:extLst>
          </p:cNvPr>
          <p:cNvGrpSpPr/>
          <p:nvPr/>
        </p:nvGrpSpPr>
        <p:grpSpPr>
          <a:xfrm>
            <a:off x="6489179" y="1534318"/>
            <a:ext cx="5047754" cy="3844021"/>
            <a:chOff x="497102" y="1118133"/>
            <a:chExt cx="2177415" cy="3318640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A501F1BA-561B-8A5E-4154-0FFAA8DC6793}"/>
                </a:ext>
              </a:extLst>
            </p:cNvPr>
            <p:cNvSpPr/>
            <p:nvPr/>
          </p:nvSpPr>
          <p:spPr>
            <a:xfrm>
              <a:off x="497102" y="1118133"/>
              <a:ext cx="2177413" cy="293703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康帅slide5">
              <a:extLst>
                <a:ext uri="{FF2B5EF4-FFF2-40B4-BE49-F238E27FC236}">
                  <a16:creationId xmlns:a16="http://schemas.microsoft.com/office/drawing/2014/main" id="{F2C8279E-4385-C72C-95F8-E49CCC906B16}"/>
                </a:ext>
              </a:extLst>
            </p:cNvPr>
            <p:cNvSpPr txBox="1"/>
            <p:nvPr/>
          </p:nvSpPr>
          <p:spPr>
            <a:xfrm>
              <a:off x="497102" y="1118133"/>
              <a:ext cx="2177415" cy="432000"/>
            </a:xfrm>
            <a:prstGeom prst="roundRect">
              <a:avLst/>
            </a:prstGeom>
            <a:gradFill flip="none" rotWithShape="1">
              <a:gsLst>
                <a:gs pos="24000">
                  <a:srgbClr val="0E419C"/>
                </a:gs>
                <a:gs pos="100000">
                  <a:srgbClr val="063771"/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algn="ctr">
                <a:defRPr>
                  <a:solidFill>
                    <a:schemeClr val="lt1"/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4" name="康帅slide17">
              <a:extLst>
                <a:ext uri="{FF2B5EF4-FFF2-40B4-BE49-F238E27FC236}">
                  <a16:creationId xmlns:a16="http://schemas.microsoft.com/office/drawing/2014/main" id="{58C80AAF-425C-B6AF-FF62-CCACB5A53ECB}"/>
                </a:ext>
              </a:extLst>
            </p:cNvPr>
            <p:cNvSpPr txBox="1"/>
            <p:nvPr/>
          </p:nvSpPr>
          <p:spPr>
            <a:xfrm flipH="1">
              <a:off x="540583" y="1154874"/>
              <a:ext cx="2073218" cy="3454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R="0" lvl="0" indent="0" fontAlgn="auto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 kumimoji="0" sz="4400" b="0" i="0" u="none" strike="noStrike" cap="none" spc="0" normalizeH="0" baseline="0">
                  <a:ln>
                    <a:noFill/>
                  </a:ln>
                  <a:gradFill>
                    <a:gsLst>
                      <a:gs pos="21000">
                        <a:srgbClr val="3950FD"/>
                      </a:gs>
                      <a:gs pos="100000">
                        <a:srgbClr val="2F79FF"/>
                      </a:gs>
                    </a:gsLst>
                    <a:lin ang="0" scaled="0"/>
                  </a:gra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</a:defRPr>
              </a:lvl1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b="1" dirty="0">
                  <a:solidFill>
                    <a:prstClr val="whit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研究意义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康帅slide18">
              <a:extLst>
                <a:ext uri="{FF2B5EF4-FFF2-40B4-BE49-F238E27FC236}">
                  <a16:creationId xmlns:a16="http://schemas.microsoft.com/office/drawing/2014/main" id="{E07C97C6-5900-283A-BDB7-2E41AF3D0A2B}"/>
                </a:ext>
              </a:extLst>
            </p:cNvPr>
            <p:cNvSpPr txBox="1"/>
            <p:nvPr/>
          </p:nvSpPr>
          <p:spPr>
            <a:xfrm>
              <a:off x="497102" y="1806232"/>
              <a:ext cx="2177097" cy="26305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fontAlgn="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缓解医疗影像数据孤岛问题，支持数据不出本地条件下的协同建模。</a:t>
              </a:r>
              <a:endPara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fontAlgn="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Font typeface="Wingdings" panose="05000000000000000000" pitchFamily="2" charset="2"/>
                <a:buChar char="l"/>
                <a:defRPr/>
              </a:pPr>
              <a:endPara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fontAlgn="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分析差分隐私对分类性能与隐私风险的影响，探索</a:t>
              </a:r>
              <a:r>
                <a:rPr lang="en-US" altLang="zh-CN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trade-off </a:t>
              </a: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权衡。</a:t>
              </a:r>
              <a:endParaRPr lang="en-US" altLang="zh-CN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fontAlgn="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Font typeface="Wingdings" panose="05000000000000000000" pitchFamily="2" charset="2"/>
                <a:buChar char="l"/>
                <a:defRPr/>
              </a:pPr>
              <a:endParaRPr lang="zh-CN" altLang="en-US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285750" indent="-285750" fontAlgn="t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E419C"/>
                </a:buClr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构建可复现的训练、攻击评估与可视化流程，为医疗影像隐私计算系统提供实现参考。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54191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C8CDAF-D631-E66D-BA68-537BF6A7D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15B4A9-7C22-3D62-8910-B2539743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3BE0D1-3428-54F4-3C15-B3425960DF41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1.2 </a:t>
            </a:r>
            <a:r>
              <a:rPr lang="zh-CN" altLang="en-US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研究内容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C1C90CA-6619-1B16-8E6F-D5FA902BEBFD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824DB05-9A40-DDEE-AED9-47438FB3F2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B185E4D-2C5C-91CB-1E03-ED258DFE00EE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8908428-79CF-637C-77A2-E67079E6C3DB}"/>
              </a:ext>
            </a:extLst>
          </p:cNvPr>
          <p:cNvGrpSpPr/>
          <p:nvPr/>
        </p:nvGrpSpPr>
        <p:grpSpPr>
          <a:xfrm>
            <a:off x="1416523" y="1753686"/>
            <a:ext cx="3805212" cy="1497652"/>
            <a:chOff x="1154328" y="1706206"/>
            <a:chExt cx="3805212" cy="1497652"/>
          </a:xfrm>
        </p:grpSpPr>
        <p:cxnSp>
          <p:nvCxnSpPr>
            <p:cNvPr id="8" name="直接连接符 218">
              <a:extLst>
                <a:ext uri="{FF2B5EF4-FFF2-40B4-BE49-F238E27FC236}">
                  <a16:creationId xmlns:a16="http://schemas.microsoft.com/office/drawing/2014/main" id="{90B1942E-EDFB-09EB-5C9A-90C1215FA714}"/>
                </a:ext>
              </a:extLst>
            </p:cNvPr>
            <p:cNvCxnSpPr/>
            <p:nvPr/>
          </p:nvCxnSpPr>
          <p:spPr>
            <a:xfrm>
              <a:off x="1667063" y="2087195"/>
              <a:ext cx="3292477" cy="21601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圆角矩形 28">
              <a:extLst>
                <a:ext uri="{FF2B5EF4-FFF2-40B4-BE49-F238E27FC236}">
                  <a16:creationId xmlns:a16="http://schemas.microsoft.com/office/drawing/2014/main" id="{C2F9B8D0-0A7C-01AB-1DCF-C74856726AC3}"/>
                </a:ext>
              </a:extLst>
            </p:cNvPr>
            <p:cNvSpPr/>
            <p:nvPr/>
          </p:nvSpPr>
          <p:spPr>
            <a:xfrm rot="10800000" flipV="1">
              <a:off x="1154328" y="1750171"/>
              <a:ext cx="272237" cy="276076"/>
            </a:xfrm>
            <a:prstGeom prst="roundRect">
              <a:avLst>
                <a:gd name="adj" fmla="val 5039"/>
              </a:avLst>
            </a:prstGeom>
            <a:solidFill>
              <a:srgbClr val="2B96FA"/>
            </a:solidFill>
            <a:ln>
              <a:solidFill>
                <a:srgbClr val="7F7F7F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3600" dirty="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67B2B8FB-E35A-AE41-EC91-F677927C3FF1}"/>
                </a:ext>
              </a:extLst>
            </p:cNvPr>
            <p:cNvSpPr txBox="1"/>
            <p:nvPr/>
          </p:nvSpPr>
          <p:spPr>
            <a:xfrm>
              <a:off x="1627015" y="1706206"/>
              <a:ext cx="2098034" cy="1497652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构建 </a:t>
              </a:r>
              <a:r>
                <a: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HAM10000 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良恶性二分类的联邦训练流程。</a:t>
              </a:r>
            </a:p>
            <a:p>
              <a:pPr>
                <a:lnSpc>
                  <a:spcPct val="130000"/>
                </a:lnSpc>
              </a:pPr>
              <a:endParaRPr lang="zh-CN" altLang="en-US" dirty="0">
                <a:solidFill>
                  <a:srgbClr val="002570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1EC8071-E4F6-A972-ABA8-12FE4CEBD752}"/>
                </a:ext>
              </a:extLst>
            </p:cNvPr>
            <p:cNvSpPr/>
            <p:nvPr/>
          </p:nvSpPr>
          <p:spPr>
            <a:xfrm>
              <a:off x="1583186" y="2165081"/>
              <a:ext cx="2767871" cy="363174"/>
            </a:xfrm>
            <a:prstGeom prst="rect">
              <a:avLst/>
            </a:prstGeom>
          </p:spPr>
          <p:txBody>
            <a:bodyPr wrap="square" lIns="91438" tIns="45719" rIns="91438" bIns="45719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500" dirty="0">
                <a:solidFill>
                  <a:schemeClr val="bg2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F09C5E2A-095D-28F9-CD09-E455AE75F744}"/>
              </a:ext>
            </a:extLst>
          </p:cNvPr>
          <p:cNvGrpSpPr/>
          <p:nvPr/>
        </p:nvGrpSpPr>
        <p:grpSpPr>
          <a:xfrm>
            <a:off x="1415721" y="4183270"/>
            <a:ext cx="3811493" cy="1137553"/>
            <a:chOff x="1154328" y="4074916"/>
            <a:chExt cx="3811493" cy="1137553"/>
          </a:xfrm>
        </p:grpSpPr>
        <p:cxnSp>
          <p:nvCxnSpPr>
            <p:cNvPr id="13" name="直接连接符 222">
              <a:extLst>
                <a:ext uri="{FF2B5EF4-FFF2-40B4-BE49-F238E27FC236}">
                  <a16:creationId xmlns:a16="http://schemas.microsoft.com/office/drawing/2014/main" id="{D5F6108E-52F4-9086-A710-9E9E1D62ED0F}"/>
                </a:ext>
              </a:extLst>
            </p:cNvPr>
            <p:cNvCxnSpPr/>
            <p:nvPr/>
          </p:nvCxnSpPr>
          <p:spPr>
            <a:xfrm>
              <a:off x="1667063" y="4517125"/>
              <a:ext cx="3298758" cy="21642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圆角矩形 28">
              <a:extLst>
                <a:ext uri="{FF2B5EF4-FFF2-40B4-BE49-F238E27FC236}">
                  <a16:creationId xmlns:a16="http://schemas.microsoft.com/office/drawing/2014/main" id="{F30CEA39-2596-C987-7F3A-E7D7D7991D0E}"/>
                </a:ext>
              </a:extLst>
            </p:cNvPr>
            <p:cNvSpPr/>
            <p:nvPr/>
          </p:nvSpPr>
          <p:spPr>
            <a:xfrm rot="10800000" flipV="1">
              <a:off x="1154328" y="4180101"/>
              <a:ext cx="272237" cy="276076"/>
            </a:xfrm>
            <a:prstGeom prst="roundRect">
              <a:avLst>
                <a:gd name="adj" fmla="val 5039"/>
              </a:avLst>
            </a:prstGeom>
            <a:solidFill>
              <a:srgbClr val="0E419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3600" dirty="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F68FA58-9274-2428-A817-F875A68E7CCD}"/>
                </a:ext>
              </a:extLst>
            </p:cNvPr>
            <p:cNvSpPr txBox="1"/>
            <p:nvPr/>
          </p:nvSpPr>
          <p:spPr>
            <a:xfrm>
              <a:off x="1640766" y="4074916"/>
              <a:ext cx="2123741" cy="1137553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使用成员推断攻击评估模型是否暴露成员信息。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E432E7D-7BF5-BB8E-6871-5B0D873B7819}"/>
                </a:ext>
              </a:extLst>
            </p:cNvPr>
            <p:cNvSpPr/>
            <p:nvPr/>
          </p:nvSpPr>
          <p:spPr>
            <a:xfrm>
              <a:off x="1583186" y="4595011"/>
              <a:ext cx="2767871" cy="363174"/>
            </a:xfrm>
            <a:prstGeom prst="rect">
              <a:avLst/>
            </a:prstGeom>
          </p:spPr>
          <p:txBody>
            <a:bodyPr wrap="square" lIns="91438" tIns="45719" rIns="91438" bIns="45719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500" dirty="0">
                <a:solidFill>
                  <a:schemeClr val="bg2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BAF7447D-9712-F806-EEED-AC51C01DC1E3}"/>
              </a:ext>
            </a:extLst>
          </p:cNvPr>
          <p:cNvGrpSpPr/>
          <p:nvPr/>
        </p:nvGrpSpPr>
        <p:grpSpPr>
          <a:xfrm>
            <a:off x="7040129" y="1776727"/>
            <a:ext cx="3608173" cy="1497652"/>
            <a:chOff x="7429500" y="1703008"/>
            <a:chExt cx="3608173" cy="1497652"/>
          </a:xfrm>
        </p:grpSpPr>
        <p:sp>
          <p:nvSpPr>
            <p:cNvPr id="18" name="圆角矩形 38">
              <a:extLst>
                <a:ext uri="{FF2B5EF4-FFF2-40B4-BE49-F238E27FC236}">
                  <a16:creationId xmlns:a16="http://schemas.microsoft.com/office/drawing/2014/main" id="{7B445384-0F16-7E90-58EF-F616DC774EE6}"/>
                </a:ext>
              </a:extLst>
            </p:cNvPr>
            <p:cNvSpPr/>
            <p:nvPr/>
          </p:nvSpPr>
          <p:spPr>
            <a:xfrm rot="10800000" flipV="1">
              <a:off x="10765436" y="1766307"/>
              <a:ext cx="272237" cy="276076"/>
            </a:xfrm>
            <a:prstGeom prst="roundRect">
              <a:avLst>
                <a:gd name="adj" fmla="val 5039"/>
              </a:avLst>
            </a:prstGeom>
            <a:solidFill>
              <a:srgbClr val="0E419C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A7D461D-3EDA-BCD7-6953-55947F9DD446}"/>
                </a:ext>
              </a:extLst>
            </p:cNvPr>
            <p:cNvSpPr txBox="1"/>
            <p:nvPr/>
          </p:nvSpPr>
          <p:spPr>
            <a:xfrm>
              <a:off x="8458877" y="1703008"/>
              <a:ext cx="2379408" cy="1497652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对比五种实验配置：</a:t>
              </a:r>
              <a:r>
                <a:rPr lang="en-US" altLang="zh-CN" dirty="0" err="1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NoDP</a:t>
              </a:r>
              <a:r>
                <a: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/ Gaussian / Laplace / Hybrid / Adaptive</a:t>
              </a:r>
              <a:r>
                <a: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lang="en-US" altLang="zh-CN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Hybrid</a:t>
              </a:r>
              <a:r>
                <a:rPr lang="zh-CN" altLang="en-US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。</a:t>
              </a:r>
            </a:p>
          </p:txBody>
        </p:sp>
        <p:cxnSp>
          <p:nvCxnSpPr>
            <p:cNvPr id="20" name="直接连接符 226">
              <a:extLst>
                <a:ext uri="{FF2B5EF4-FFF2-40B4-BE49-F238E27FC236}">
                  <a16:creationId xmlns:a16="http://schemas.microsoft.com/office/drawing/2014/main" id="{32694F70-BED6-6126-93CE-CCF5D6AAAAFF}"/>
                </a:ext>
              </a:extLst>
            </p:cNvPr>
            <p:cNvCxnSpPr/>
            <p:nvPr/>
          </p:nvCxnSpPr>
          <p:spPr>
            <a:xfrm>
              <a:off x="7429500" y="2082634"/>
              <a:ext cx="3108875" cy="20397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F112FE69-AD48-5568-56BA-258CC8C298B7}"/>
                </a:ext>
              </a:extLst>
            </p:cNvPr>
            <p:cNvSpPr/>
            <p:nvPr/>
          </p:nvSpPr>
          <p:spPr>
            <a:xfrm>
              <a:off x="8082800" y="2166290"/>
              <a:ext cx="2546211" cy="363174"/>
            </a:xfrm>
            <a:prstGeom prst="rect">
              <a:avLst/>
            </a:prstGeom>
          </p:spPr>
          <p:txBody>
            <a:bodyPr wrap="square" lIns="91438" tIns="45719" rIns="91438" bIns="45719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500" dirty="0">
                <a:solidFill>
                  <a:schemeClr val="bg2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D2237FB-9C60-B701-2A9C-31B5CE586077}"/>
              </a:ext>
            </a:extLst>
          </p:cNvPr>
          <p:cNvGrpSpPr/>
          <p:nvPr/>
        </p:nvGrpSpPr>
        <p:grpSpPr>
          <a:xfrm>
            <a:off x="6951405" y="4214058"/>
            <a:ext cx="3696897" cy="817846"/>
            <a:chOff x="7340776" y="4140339"/>
            <a:chExt cx="3696897" cy="817846"/>
          </a:xfrm>
        </p:grpSpPr>
        <p:sp>
          <p:nvSpPr>
            <p:cNvPr id="23" name="圆角矩形 38">
              <a:extLst>
                <a:ext uri="{FF2B5EF4-FFF2-40B4-BE49-F238E27FC236}">
                  <a16:creationId xmlns:a16="http://schemas.microsoft.com/office/drawing/2014/main" id="{529854AF-BBF2-BC83-7A29-A8FF3F262BCA}"/>
                </a:ext>
              </a:extLst>
            </p:cNvPr>
            <p:cNvSpPr/>
            <p:nvPr/>
          </p:nvSpPr>
          <p:spPr>
            <a:xfrm rot="10800000" flipV="1">
              <a:off x="10765436" y="4195028"/>
              <a:ext cx="272237" cy="276076"/>
            </a:xfrm>
            <a:prstGeom prst="roundRect">
              <a:avLst>
                <a:gd name="adj" fmla="val 5039"/>
              </a:avLst>
            </a:prstGeom>
            <a:solidFill>
              <a:srgbClr val="2B96FA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38" tIns="45719" rIns="91438" bIns="45719" rtlCol="0" anchor="ctr"/>
            <a:lstStyle/>
            <a:p>
              <a:pPr algn="ctr">
                <a:lnSpc>
                  <a:spcPct val="130000"/>
                </a:lnSpc>
              </a:pPr>
              <a:endParaRPr lang="zh-CN" altLang="en-US" sz="36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FB88D11-6499-C780-9F3B-5F9005E252A8}"/>
                </a:ext>
              </a:extLst>
            </p:cNvPr>
            <p:cNvSpPr txBox="1"/>
            <p:nvPr/>
          </p:nvSpPr>
          <p:spPr>
            <a:xfrm>
              <a:off x="8458877" y="4140339"/>
              <a:ext cx="2075434" cy="783995"/>
            </a:xfrm>
            <a:prstGeom prst="rect">
              <a:avLst/>
            </a:prstGeom>
            <a:noFill/>
          </p:spPr>
          <p:txBody>
            <a:bodyPr wrap="square" lIns="91438" tIns="45719" rIns="91438" bIns="45719" rtlCol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实现结果汇总与前端可视化展示</a:t>
              </a:r>
            </a:p>
          </p:txBody>
        </p:sp>
        <p:cxnSp>
          <p:nvCxnSpPr>
            <p:cNvPr id="25" name="直接连接符 230">
              <a:extLst>
                <a:ext uri="{FF2B5EF4-FFF2-40B4-BE49-F238E27FC236}">
                  <a16:creationId xmlns:a16="http://schemas.microsoft.com/office/drawing/2014/main" id="{E612EDB0-544D-17FE-15EF-3937766425B5}"/>
                </a:ext>
              </a:extLst>
            </p:cNvPr>
            <p:cNvCxnSpPr/>
            <p:nvPr/>
          </p:nvCxnSpPr>
          <p:spPr>
            <a:xfrm>
              <a:off x="7340776" y="4510773"/>
              <a:ext cx="3197599" cy="20979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  <a:alpha val="33000"/>
                </a:schemeClr>
              </a:solidFill>
              <a:headEnd type="diamond"/>
              <a:tailEnd type="diamon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43A3DB13-5236-4F0C-BD57-646D73D2CE39}"/>
                </a:ext>
              </a:extLst>
            </p:cNvPr>
            <p:cNvSpPr/>
            <p:nvPr/>
          </p:nvSpPr>
          <p:spPr>
            <a:xfrm>
              <a:off x="7951536" y="4595011"/>
              <a:ext cx="2677475" cy="363174"/>
            </a:xfrm>
            <a:prstGeom prst="rect">
              <a:avLst/>
            </a:prstGeom>
          </p:spPr>
          <p:txBody>
            <a:bodyPr wrap="square" lIns="91438" tIns="45719" rIns="91438" bIns="45719">
              <a:spAutoFit/>
            </a:bodyPr>
            <a:lstStyle/>
            <a:p>
              <a:pPr>
                <a:lnSpc>
                  <a:spcPct val="130000"/>
                </a:lnSpc>
              </a:pPr>
              <a:endParaRPr lang="en-US" altLang="zh-CN" sz="1500" dirty="0">
                <a:solidFill>
                  <a:schemeClr val="bg2">
                    <a:lumMod val="50000"/>
                  </a:schemeClr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EB06D41B-1DD6-FAFF-B1A9-A8BADA9CF48D}"/>
              </a:ext>
            </a:extLst>
          </p:cNvPr>
          <p:cNvGrpSpPr/>
          <p:nvPr/>
        </p:nvGrpSpPr>
        <p:grpSpPr>
          <a:xfrm>
            <a:off x="4448841" y="1978064"/>
            <a:ext cx="3112072" cy="3103856"/>
            <a:chOff x="4339585" y="1848472"/>
            <a:chExt cx="3511329" cy="3502059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CBDD332E-8E66-6B27-25FA-441BCDF11C17}"/>
                </a:ext>
              </a:extLst>
            </p:cNvPr>
            <p:cNvGrpSpPr/>
            <p:nvPr/>
          </p:nvGrpSpPr>
          <p:grpSpPr>
            <a:xfrm>
              <a:off x="4339585" y="1848472"/>
              <a:ext cx="3511329" cy="3502059"/>
              <a:chOff x="4344856" y="1848472"/>
              <a:chExt cx="3511329" cy="3502058"/>
            </a:xfrm>
          </p:grpSpPr>
          <p:sp>
            <p:nvSpPr>
              <p:cNvPr id="30" name="任意多边形: 形状 196">
                <a:extLst>
                  <a:ext uri="{FF2B5EF4-FFF2-40B4-BE49-F238E27FC236}">
                    <a16:creationId xmlns:a16="http://schemas.microsoft.com/office/drawing/2014/main" id="{1E14EE57-B90B-4125-99B9-F858119608B7}"/>
                  </a:ext>
                </a:extLst>
              </p:cNvPr>
              <p:cNvSpPr/>
              <p:nvPr/>
            </p:nvSpPr>
            <p:spPr>
              <a:xfrm rot="13446499">
                <a:off x="6397174" y="2281488"/>
                <a:ext cx="992880" cy="992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3109" y="2352"/>
                      <a:pt x="6901" y="3625"/>
                      <a:pt x="10800" y="3625"/>
                    </a:cubicBezTo>
                    <a:cubicBezTo>
                      <a:pt x="14699" y="3625"/>
                      <a:pt x="18491" y="2352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419C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 sz="2400">
                  <a:cs typeface="+mn-ea"/>
                  <a:sym typeface="+mn-lt"/>
                </a:endParaRPr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757E2AB1-257B-1E22-E8FB-B259B1E068E0}"/>
                  </a:ext>
                </a:extLst>
              </p:cNvPr>
              <p:cNvSpPr/>
              <p:nvPr/>
            </p:nvSpPr>
            <p:spPr>
              <a:xfrm>
                <a:off x="6783676" y="1848472"/>
                <a:ext cx="1029055" cy="102414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FCFCF"/>
                </a:solidFill>
                <a:miter lim="400000"/>
              </a:ln>
            </p:spPr>
            <p:txBody>
              <a:bodyPr lIns="33867" tIns="33867" rIns="33867" bIns="33867" anchor="ctr">
                <a:normAutofit lnSpcReduction="10000"/>
              </a:bodyPr>
              <a:lstStyle/>
              <a:p>
                <a:pPr algn="ctr" defTabSz="3048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rPr lang="zh-CN" altLang="en-US" sz="4000" b="1" dirty="0">
                    <a:solidFill>
                      <a:srgbClr val="0E419C"/>
                    </a:solidFill>
                    <a:effectLst>
                      <a:outerShdw sx="1000" sy="1000" rotWithShape="0">
                        <a:srgbClr val="000000"/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  <a:sym typeface="+mn-lt"/>
                  </a:rPr>
                  <a:t>②</a:t>
                </a:r>
                <a:endParaRPr lang="en-US" altLang="zh-CN" sz="4000" b="1" dirty="0">
                  <a:solidFill>
                    <a:srgbClr val="0E419C"/>
                  </a:solidFill>
                  <a:effectLst>
                    <a:outerShdw sx="1000" sy="1000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32" name="任意多边形: 形状 198">
                <a:extLst>
                  <a:ext uri="{FF2B5EF4-FFF2-40B4-BE49-F238E27FC236}">
                    <a16:creationId xmlns:a16="http://schemas.microsoft.com/office/drawing/2014/main" id="{360FB8DF-CF4D-6772-63B8-CBB8259E7732}"/>
                  </a:ext>
                </a:extLst>
              </p:cNvPr>
              <p:cNvSpPr/>
              <p:nvPr/>
            </p:nvSpPr>
            <p:spPr>
              <a:xfrm rot="18846498" flipH="1">
                <a:off x="6427835" y="3897068"/>
                <a:ext cx="992880" cy="992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3109" y="2352"/>
                      <a:pt x="6901" y="3625"/>
                      <a:pt x="10800" y="3625"/>
                    </a:cubicBezTo>
                    <a:cubicBezTo>
                      <a:pt x="14699" y="3625"/>
                      <a:pt x="18491" y="2352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96FA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 sz="2400">
                  <a:cs typeface="+mn-ea"/>
                  <a:sym typeface="+mn-lt"/>
                </a:endParaRP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C3FC842B-5415-3EF0-6D09-46FDBA1265FA}"/>
                  </a:ext>
                </a:extLst>
              </p:cNvPr>
              <p:cNvSpPr/>
              <p:nvPr/>
            </p:nvSpPr>
            <p:spPr>
              <a:xfrm flipH="1">
                <a:off x="6827130" y="4286024"/>
                <a:ext cx="1029055" cy="102414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FCFCF"/>
                </a:solidFill>
                <a:miter lim="400000"/>
              </a:ln>
            </p:spPr>
            <p:txBody>
              <a:bodyPr lIns="33867" tIns="33867" rIns="33867" bIns="33867" anchor="ctr">
                <a:normAutofit lnSpcReduction="10000"/>
              </a:bodyPr>
              <a:lstStyle/>
              <a:p>
                <a:pPr algn="ctr" defTabSz="3048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rPr lang="zh-CN" altLang="en-US" sz="4000" b="1" dirty="0">
                    <a:solidFill>
                      <a:srgbClr val="44546A"/>
                    </a:solidFill>
                    <a:effectLst>
                      <a:outerShdw sx="1000" sy="1000" rotWithShape="0">
                        <a:srgbClr val="000000"/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  <a:sym typeface="+mn-lt"/>
                  </a:rPr>
                  <a:t>④</a:t>
                </a:r>
                <a:endParaRPr lang="en-US" altLang="zh-CN" sz="4000" b="1" dirty="0">
                  <a:solidFill>
                    <a:srgbClr val="44546A"/>
                  </a:solidFill>
                  <a:effectLst>
                    <a:outerShdw sx="1000" sy="1000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34" name="任意多边形: 形状 200">
                <a:extLst>
                  <a:ext uri="{FF2B5EF4-FFF2-40B4-BE49-F238E27FC236}">
                    <a16:creationId xmlns:a16="http://schemas.microsoft.com/office/drawing/2014/main" id="{63F49CD0-7533-A23D-FECB-51682AF5BA75}"/>
                  </a:ext>
                </a:extLst>
              </p:cNvPr>
              <p:cNvSpPr/>
              <p:nvPr/>
            </p:nvSpPr>
            <p:spPr>
              <a:xfrm rot="2646498">
                <a:off x="4798451" y="3924632"/>
                <a:ext cx="992880" cy="992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3109" y="2352"/>
                      <a:pt x="6901" y="3625"/>
                      <a:pt x="10800" y="3625"/>
                    </a:cubicBezTo>
                    <a:cubicBezTo>
                      <a:pt x="14699" y="3625"/>
                      <a:pt x="18491" y="2352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E419C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 sz="2400">
                  <a:cs typeface="+mn-ea"/>
                  <a:sym typeface="+mn-lt"/>
                </a:endParaRP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226BE136-052A-8705-1927-55B590233270}"/>
                  </a:ext>
                </a:extLst>
              </p:cNvPr>
              <p:cNvSpPr/>
              <p:nvPr/>
            </p:nvSpPr>
            <p:spPr>
              <a:xfrm>
                <a:off x="4375774" y="4326383"/>
                <a:ext cx="1029055" cy="102414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FCFCF"/>
                </a:solidFill>
                <a:miter lim="400000"/>
              </a:ln>
            </p:spPr>
            <p:txBody>
              <a:bodyPr lIns="33867" tIns="33867" rIns="33867" bIns="33867" anchor="ctr">
                <a:normAutofit lnSpcReduction="10000"/>
              </a:bodyPr>
              <a:lstStyle/>
              <a:p>
                <a:pPr algn="ctr" defTabSz="3048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rPr lang="zh-CN" altLang="en-US" sz="4000" b="1" dirty="0">
                    <a:solidFill>
                      <a:srgbClr val="0E419C"/>
                    </a:solidFill>
                    <a:effectLst>
                      <a:outerShdw sx="1000" sy="1000" rotWithShape="0">
                        <a:srgbClr val="000000"/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  <a:sym typeface="+mn-lt"/>
                  </a:rPr>
                  <a:t>③</a:t>
                </a:r>
                <a:endParaRPr lang="en-US" altLang="zh-CN" sz="4000" b="1" dirty="0">
                  <a:solidFill>
                    <a:srgbClr val="0E419C"/>
                  </a:solidFill>
                  <a:effectLst>
                    <a:outerShdw sx="1000" sy="1000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36" name="任意多边形: 形状 202">
                <a:extLst>
                  <a:ext uri="{FF2B5EF4-FFF2-40B4-BE49-F238E27FC236}">
                    <a16:creationId xmlns:a16="http://schemas.microsoft.com/office/drawing/2014/main" id="{BAB24A86-CFCC-A03B-2A46-97CC2571B5A0}"/>
                  </a:ext>
                </a:extLst>
              </p:cNvPr>
              <p:cNvSpPr/>
              <p:nvPr/>
            </p:nvSpPr>
            <p:spPr>
              <a:xfrm rot="8046499" flipH="1">
                <a:off x="4780326" y="2300057"/>
                <a:ext cx="992880" cy="99288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cubicBezTo>
                      <a:pt x="3109" y="2352"/>
                      <a:pt x="6901" y="3625"/>
                      <a:pt x="10800" y="3625"/>
                    </a:cubicBezTo>
                    <a:cubicBezTo>
                      <a:pt x="14699" y="3625"/>
                      <a:pt x="18491" y="2352"/>
                      <a:pt x="21600" y="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2B96FA"/>
              </a:solidFill>
              <a:ln w="12700">
                <a:miter lim="400000"/>
              </a:ln>
            </p:spPr>
            <p:txBody>
              <a:bodyPr anchor="ctr"/>
              <a:lstStyle/>
              <a:p>
                <a:pPr algn="ctr"/>
                <a:endParaRPr sz="2400" dirty="0">
                  <a:cs typeface="+mn-ea"/>
                  <a:sym typeface="+mn-lt"/>
                </a:endParaRPr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DD64E844-D430-30D6-17E0-3CF6E91A7D64}"/>
                  </a:ext>
                </a:extLst>
              </p:cNvPr>
              <p:cNvSpPr/>
              <p:nvPr/>
            </p:nvSpPr>
            <p:spPr>
              <a:xfrm flipH="1">
                <a:off x="4344856" y="1879834"/>
                <a:ext cx="1029055" cy="1024147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FCFCF"/>
                </a:solidFill>
                <a:miter lim="400000"/>
              </a:ln>
            </p:spPr>
            <p:txBody>
              <a:bodyPr lIns="33867" tIns="33867" rIns="33867" bIns="33867" anchor="ctr">
                <a:normAutofit lnSpcReduction="10000"/>
              </a:bodyPr>
              <a:lstStyle/>
              <a:p>
                <a:pPr algn="ctr" defTabSz="304800">
                  <a:defRPr sz="3000">
                    <a:solidFill>
                      <a:srgbClr val="FFFFFF"/>
                    </a:solidFill>
                    <a:effectLst>
                      <a:outerShdw blurRad="38100" dist="12700" dir="5400000" rotWithShape="0">
                        <a:srgbClr val="000000">
                          <a:alpha val="50000"/>
                        </a:srgbClr>
                      </a:outerShdw>
                    </a:effectLst>
                  </a:defRPr>
                </a:pPr>
                <a:r>
                  <a:rPr lang="zh-CN" altLang="en-US" sz="4000" b="1" dirty="0">
                    <a:solidFill>
                      <a:srgbClr val="0E419C"/>
                    </a:solidFill>
                    <a:effectLst>
                      <a:outerShdw sx="1000" sy="1000" rotWithShape="0">
                        <a:srgbClr val="000000"/>
                      </a:outerShdw>
                    </a:effectLst>
                    <a:latin typeface="Arial" panose="020B0604020202020204" pitchFamily="34" charset="0"/>
                    <a:cs typeface="Arial" panose="020B0604020202020204" pitchFamily="34" charset="0"/>
                    <a:sym typeface="+mn-lt"/>
                  </a:rPr>
                  <a:t>①</a:t>
                </a:r>
                <a:endParaRPr lang="en-US" altLang="zh-CN" sz="4000" b="1" dirty="0">
                  <a:solidFill>
                    <a:srgbClr val="0E419C"/>
                  </a:solidFill>
                  <a:effectLst>
                    <a:outerShdw sx="1000" sy="1000" rotWithShape="0">
                      <a:srgbClr val="000000"/>
                    </a:outerShdw>
                  </a:effectLst>
                  <a:latin typeface="Arial" panose="020B0604020202020204" pitchFamily="34" charset="0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75EAA756-A2E8-3EEF-7786-6EC168E6C620}"/>
                  </a:ext>
                </a:extLst>
              </p:cNvPr>
              <p:cNvSpPr/>
              <p:nvPr/>
            </p:nvSpPr>
            <p:spPr>
              <a:xfrm>
                <a:off x="5171738" y="2668600"/>
                <a:ext cx="1848524" cy="1848524"/>
              </a:xfrm>
              <a:prstGeom prst="ellipse">
                <a:avLst/>
              </a:prstGeom>
              <a:solidFill>
                <a:srgbClr val="FFFFFF"/>
              </a:solidFill>
              <a:ln>
                <a:solidFill>
                  <a:srgbClr val="A6AAA9"/>
                </a:solidFill>
                <a:miter lim="400000"/>
              </a:ln>
            </p:spPr>
            <p:txBody>
              <a:bodyPr anchor="ctr"/>
              <a:lstStyle/>
              <a:p>
                <a:pPr algn="ctr"/>
                <a:endParaRPr sz="2400">
                  <a:cs typeface="+mn-ea"/>
                  <a:sym typeface="+mn-lt"/>
                </a:endParaRPr>
              </a:p>
            </p:txBody>
          </p:sp>
        </p:grp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0C48283-D0F9-576F-A765-E61D04C39AB1}"/>
                </a:ext>
              </a:extLst>
            </p:cNvPr>
            <p:cNvSpPr/>
            <p:nvPr/>
          </p:nvSpPr>
          <p:spPr>
            <a:xfrm>
              <a:off x="5331532" y="2937782"/>
              <a:ext cx="1527435" cy="1354321"/>
            </a:xfrm>
            <a:prstGeom prst="rect">
              <a:avLst/>
            </a:prstGeom>
          </p:spPr>
          <p:txBody>
            <a:bodyPr wrap="square" lIns="91438" tIns="45719" rIns="91438" bIns="45719">
              <a:spAutoFit/>
            </a:bodyPr>
            <a:lstStyle/>
            <a:p>
              <a:pPr algn="ctr"/>
              <a:r>
                <a:rPr lang="zh-CN" altLang="en-US" sz="3600" b="1" dirty="0">
                  <a:solidFill>
                    <a:srgbClr val="0E4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</a:t>
              </a:r>
              <a:endParaRPr lang="en-US" altLang="zh-CN" sz="3600" b="1" dirty="0">
                <a:solidFill>
                  <a:srgbClr val="0E419C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/>
              <a:r>
                <a:rPr lang="zh-CN" altLang="en-US" sz="3600" b="1" dirty="0">
                  <a:solidFill>
                    <a:srgbClr val="0E419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6471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5640785" y="1548353"/>
            <a:ext cx="676788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rgbClr val="0E4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2</a:t>
            </a:r>
            <a:endParaRPr lang="zh-CN" altLang="en-US" sz="6600" b="1" dirty="0">
              <a:solidFill>
                <a:srgbClr val="0E41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618672" y="3083379"/>
            <a:ext cx="2954655" cy="1236772"/>
            <a:chOff x="980119" y="2267746"/>
            <a:chExt cx="2954655" cy="1236772"/>
          </a:xfrm>
        </p:grpSpPr>
        <p:sp>
          <p:nvSpPr>
            <p:cNvPr id="14" name="文本框 13"/>
            <p:cNvSpPr txBox="1"/>
            <p:nvPr/>
          </p:nvSpPr>
          <p:spPr>
            <a:xfrm>
              <a:off x="980119" y="2267746"/>
              <a:ext cx="2954655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系统设计</a:t>
              </a: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262248" y="3196741"/>
              <a:ext cx="239039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System Design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7F34B8-CE2D-831B-2AAB-431858C09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DDFC82-CE8B-7F9C-6F35-932351E02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BA9878-32E4-27CD-07B7-22769BE226C7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.1 </a:t>
            </a:r>
            <a:r>
              <a:rPr lang="zh-CN" altLang="en-US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系统架构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8DA44BC-1B20-5482-1953-5DED00CA684A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381339-C2FB-CD10-711B-2F82482D54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D5548AA-FAE8-29EB-8C20-0B2F2B2DAD7E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F0C9FAA-05B9-7DC5-1BA1-44E6651AD6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58" y="1624995"/>
            <a:ext cx="7058279" cy="410610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C425CAA-C635-3CBA-D618-0C721E6A88E7}"/>
              </a:ext>
            </a:extLst>
          </p:cNvPr>
          <p:cNvSpPr txBox="1"/>
          <p:nvPr/>
        </p:nvSpPr>
        <p:spPr>
          <a:xfrm>
            <a:off x="7934779" y="881008"/>
            <a:ext cx="408801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系统总体架构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F3D62C66-E4CE-304C-BC99-8EF7388F1FC4}"/>
              </a:ext>
            </a:extLst>
          </p:cNvPr>
          <p:cNvGrpSpPr/>
          <p:nvPr/>
        </p:nvGrpSpPr>
        <p:grpSpPr>
          <a:xfrm>
            <a:off x="7577357" y="1732402"/>
            <a:ext cx="3973400" cy="82053"/>
            <a:chOff x="8199557" y="2118221"/>
            <a:chExt cx="3973400" cy="82053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FBFBF138-2EF9-7C6C-FE95-0FF731CE34B6}"/>
                </a:ext>
              </a:extLst>
            </p:cNvPr>
            <p:cNvCxnSpPr/>
            <p:nvPr/>
          </p:nvCxnSpPr>
          <p:spPr>
            <a:xfrm>
              <a:off x="8228141" y="2200274"/>
              <a:ext cx="3944816" cy="0"/>
            </a:xfrm>
            <a:prstGeom prst="line">
              <a:avLst/>
            </a:prstGeom>
            <a:ln w="19050">
              <a:solidFill>
                <a:srgbClr val="DABA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6CA430E8-181D-F11B-7D24-4B52E557C16B}"/>
                </a:ext>
              </a:extLst>
            </p:cNvPr>
            <p:cNvSpPr/>
            <p:nvPr/>
          </p:nvSpPr>
          <p:spPr>
            <a:xfrm>
              <a:off x="8199557" y="2118221"/>
              <a:ext cx="1044454" cy="82053"/>
            </a:xfrm>
            <a:prstGeom prst="rect">
              <a:avLst/>
            </a:prstGeom>
            <a:pattFill prst="wdDnDiag">
              <a:fgClr>
                <a:srgbClr val="DABA6A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D84FDAF4-B0F4-46CB-9441-99A6D16176B1}"/>
              </a:ext>
            </a:extLst>
          </p:cNvPr>
          <p:cNvSpPr txBox="1"/>
          <p:nvPr/>
        </p:nvSpPr>
        <p:spPr>
          <a:xfrm>
            <a:off x="7729990" y="2106149"/>
            <a:ext cx="4088015" cy="7005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多客户端协同：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个模拟医疗机构客户端，仅访问本地皮肤镜图像。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D3297EC-9EA2-A114-FDDF-9E3A79EA9A55}"/>
              </a:ext>
            </a:extLst>
          </p:cNvPr>
          <p:cNvSpPr txBox="1"/>
          <p:nvPr/>
        </p:nvSpPr>
        <p:spPr>
          <a:xfrm>
            <a:off x="7729990" y="2966172"/>
            <a:ext cx="4098109" cy="7005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本地训练：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客户端在本地完成模型训练，不上传原始图像。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F71B5EC-EEC9-64D1-003F-6BF2E552B6BD}"/>
              </a:ext>
            </a:extLst>
          </p:cNvPr>
          <p:cNvSpPr txBox="1"/>
          <p:nvPr/>
        </p:nvSpPr>
        <p:spPr>
          <a:xfrm>
            <a:off x="7729990" y="3826195"/>
            <a:ext cx="4088015" cy="70057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隐私保护上传：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上传更新前进行范数裁剪，并加入差分隐私噪声。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6F7A604-5D45-F37F-513D-D83E0C54D56E}"/>
              </a:ext>
            </a:extLst>
          </p:cNvPr>
          <p:cNvSpPr txBox="1"/>
          <p:nvPr/>
        </p:nvSpPr>
        <p:spPr>
          <a:xfrm>
            <a:off x="7729990" y="4707356"/>
            <a:ext cx="4171852" cy="10237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服务端聚合：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服务端使用 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FedAvg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按样本量加权聚合，生成全局模型。</a:t>
            </a:r>
          </a:p>
        </p:txBody>
      </p:sp>
    </p:spTree>
    <p:extLst>
      <p:ext uri="{BB962C8B-B14F-4D97-AF65-F5344CB8AC3E}">
        <p14:creationId xmlns:p14="http://schemas.microsoft.com/office/powerpoint/2010/main" val="4141539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9921EA-D22B-0A63-CDB3-E31D20100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B68541-8DD9-075B-9F0F-E227E03F6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216554-5545-3889-6ABF-5245097656DC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.2 </a:t>
            </a:r>
            <a:r>
              <a:rPr lang="zh-CN" altLang="en-US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数据与模型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21FFE67-92FB-A7F9-A61E-DFA8D8E60D24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1E7A732-66E3-AA95-1A7C-CEF1D6DD2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E6EFB8-B645-51AD-9589-5A6106359E6B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87613F2-4E24-C487-8933-39D42788D1D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946" y="1609861"/>
            <a:ext cx="7059600" cy="391253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7DFC7A64-C371-FD59-70AF-3CCAD1DB545F}"/>
              </a:ext>
            </a:extLst>
          </p:cNvPr>
          <p:cNvSpPr txBox="1"/>
          <p:nvPr/>
        </p:nvSpPr>
        <p:spPr>
          <a:xfrm>
            <a:off x="316320" y="865875"/>
            <a:ext cx="3184760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数据与模型设计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3BD87A3-544D-7796-E774-176A0216F1E9}"/>
              </a:ext>
            </a:extLst>
          </p:cNvPr>
          <p:cNvSpPr txBox="1"/>
          <p:nvPr/>
        </p:nvSpPr>
        <p:spPr>
          <a:xfrm>
            <a:off x="422188" y="1964331"/>
            <a:ext cx="4112976" cy="10237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数据划分：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HAM10000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皮肤镜图像，整理为良性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恶性二分类任务。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6AE4230-1547-CC98-AA00-ECDABC0C39BB}"/>
              </a:ext>
            </a:extLst>
          </p:cNvPr>
          <p:cNvSpPr txBox="1"/>
          <p:nvPr/>
        </p:nvSpPr>
        <p:spPr>
          <a:xfrm>
            <a:off x="422188" y="2994618"/>
            <a:ext cx="4112975" cy="10237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病灶级划分：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按 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lesion_id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隔离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train / 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val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/ test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，避免同一病灶跨集合造成数据泄漏。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7BA622F-D4D0-1F08-0406-5EE1C338C3CA}"/>
              </a:ext>
            </a:extLst>
          </p:cNvPr>
          <p:cNvSpPr txBox="1"/>
          <p:nvPr/>
        </p:nvSpPr>
        <p:spPr>
          <a:xfrm>
            <a:off x="422188" y="4044376"/>
            <a:ext cx="4112974" cy="10237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数据分布：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数据划分为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8025 / 993 / 997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，训练集良恶比例约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4:1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2DBDBD-6C6A-C94F-48D2-43A8E0D649FA}"/>
              </a:ext>
            </a:extLst>
          </p:cNvPr>
          <p:cNvSpPr txBox="1"/>
          <p:nvPr/>
        </p:nvSpPr>
        <p:spPr>
          <a:xfrm>
            <a:off x="422188" y="5074663"/>
            <a:ext cx="4112973" cy="10237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客户端模拟：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训练集按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Dirichlet </a:t>
            </a:r>
            <a:r>
              <a:rPr lang="el-GR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α=1.0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分到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个客户端，模拟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Non-IID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场景。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38B734A-AC11-D982-76D0-67FF1C281ED9}"/>
              </a:ext>
            </a:extLst>
          </p:cNvPr>
          <p:cNvGrpSpPr/>
          <p:nvPr/>
        </p:nvGrpSpPr>
        <p:grpSpPr>
          <a:xfrm flipH="1">
            <a:off x="680421" y="1703109"/>
            <a:ext cx="999011" cy="164719"/>
            <a:chOff x="1925198" y="4947002"/>
            <a:chExt cx="4616074" cy="761107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3D49095-9B75-062D-1576-5412A4083911}"/>
                </a:ext>
              </a:extLst>
            </p:cNvPr>
            <p:cNvGrpSpPr/>
            <p:nvPr/>
          </p:nvGrpSpPr>
          <p:grpSpPr>
            <a:xfrm>
              <a:off x="1925198" y="4964880"/>
              <a:ext cx="1536983" cy="743229"/>
              <a:chOff x="3221502" y="4885688"/>
              <a:chExt cx="1403706" cy="678781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0988E7F6-CA18-20AF-23DA-8C5752024F8E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36475F64-E4DC-9562-55B3-890D90296297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4B7B070-77F6-D388-1EE7-1FB84DB771CE}"/>
                </a:ext>
              </a:extLst>
            </p:cNvPr>
            <p:cNvGrpSpPr/>
            <p:nvPr/>
          </p:nvGrpSpPr>
          <p:grpSpPr>
            <a:xfrm>
              <a:off x="3471289" y="4963459"/>
              <a:ext cx="1536983" cy="743229"/>
              <a:chOff x="3221502" y="4885688"/>
              <a:chExt cx="1403706" cy="678781"/>
            </a:xfrm>
          </p:grpSpPr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D80B591F-7760-58BA-3645-16F2BB67DC75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BAE1638F-8515-02B1-A8F4-D27D02CC7E02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FB50AA6-4B74-40D6-6DA8-D17BA4BE0C6E}"/>
                </a:ext>
              </a:extLst>
            </p:cNvPr>
            <p:cNvGrpSpPr/>
            <p:nvPr/>
          </p:nvGrpSpPr>
          <p:grpSpPr>
            <a:xfrm>
              <a:off x="5004289" y="4947002"/>
              <a:ext cx="1536983" cy="743229"/>
              <a:chOff x="3221502" y="4885688"/>
              <a:chExt cx="1403706" cy="678781"/>
            </a:xfrm>
          </p:grpSpPr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0A0BD896-AAF0-F841-509C-A26F7C31FBC5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CC8383A2-9826-865C-53BB-67683FB129AD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6625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9003DF-8AE5-7DB9-9093-88B57F98A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88E0C5-8814-D539-ABDF-AFB90053A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1811" y="6345342"/>
            <a:ext cx="2743200" cy="365125"/>
          </a:xfrm>
        </p:spPr>
        <p:txBody>
          <a:bodyPr/>
          <a:lstStyle/>
          <a:p>
            <a:fld id="{129838D8-0A4F-4CB2-AF8A-7682433288ED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FE4DD7-675F-4297-BC59-A5B7F46FBF31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2</a:t>
            </a:r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.3 </a:t>
            </a:r>
            <a:r>
              <a:rPr lang="zh-CN" alt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隐私机制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2686C76-F2C7-6EB2-7D67-A04805B37516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D2E0D3A-41EE-ED11-33BC-224A447BE7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16C8DDC-158F-D7AF-FF60-2E3E31C92F64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3675DD4-BCED-DF20-945F-5A3FEA1F96B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59" y="1624994"/>
            <a:ext cx="7059600" cy="39132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542D8B3-9D97-E04D-D2DE-30A427CCA1E8}"/>
              </a:ext>
            </a:extLst>
          </p:cNvPr>
          <p:cNvSpPr txBox="1"/>
          <p:nvPr/>
        </p:nvSpPr>
        <p:spPr>
          <a:xfrm>
            <a:off x="7934779" y="881008"/>
            <a:ext cx="408801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差分隐私机制设计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FF6AB2D6-5A71-86B7-0587-2208A980760D}"/>
              </a:ext>
            </a:extLst>
          </p:cNvPr>
          <p:cNvGrpSpPr/>
          <p:nvPr/>
        </p:nvGrpSpPr>
        <p:grpSpPr>
          <a:xfrm>
            <a:off x="7577357" y="1732402"/>
            <a:ext cx="3973400" cy="82053"/>
            <a:chOff x="8199557" y="2118221"/>
            <a:chExt cx="3973400" cy="82053"/>
          </a:xfrm>
        </p:grpSpPr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880ECA68-0E69-4C34-1DDD-A79CF73602AD}"/>
                </a:ext>
              </a:extLst>
            </p:cNvPr>
            <p:cNvCxnSpPr/>
            <p:nvPr/>
          </p:nvCxnSpPr>
          <p:spPr>
            <a:xfrm>
              <a:off x="8228141" y="2200274"/>
              <a:ext cx="3944816" cy="0"/>
            </a:xfrm>
            <a:prstGeom prst="line">
              <a:avLst/>
            </a:prstGeom>
            <a:ln w="19050">
              <a:solidFill>
                <a:srgbClr val="DABA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87B9F7E-219A-76B9-A921-5CBB52E1C4AB}"/>
                </a:ext>
              </a:extLst>
            </p:cNvPr>
            <p:cNvSpPr/>
            <p:nvPr/>
          </p:nvSpPr>
          <p:spPr>
            <a:xfrm>
              <a:off x="8199557" y="2118221"/>
              <a:ext cx="1044454" cy="82053"/>
            </a:xfrm>
            <a:prstGeom prst="rect">
              <a:avLst/>
            </a:prstGeom>
            <a:pattFill prst="wdDnDiag">
              <a:fgClr>
                <a:srgbClr val="DABA6A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521CA5C2-6637-B915-6DA2-06B2727376C4}"/>
              </a:ext>
            </a:extLst>
          </p:cNvPr>
          <p:cNvSpPr txBox="1"/>
          <p:nvPr/>
        </p:nvSpPr>
        <p:spPr>
          <a:xfrm>
            <a:off x="7740084" y="1990632"/>
            <a:ext cx="4088015" cy="7005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加入位置：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隐私处理位于客户端上传模型更新之前。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7E1A72A-7098-FE3A-1CB6-BD882B163174}"/>
              </a:ext>
            </a:extLst>
          </p:cNvPr>
          <p:cNvSpPr txBox="1"/>
          <p:nvPr/>
        </p:nvSpPr>
        <p:spPr>
          <a:xfrm>
            <a:off x="7740084" y="2804589"/>
            <a:ext cx="4098109" cy="102374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更新裁剪：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先用 </a:t>
            </a:r>
            <a:r>
              <a:rPr lang="en-US" altLang="zh-CN" sz="1400" dirty="0" err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clip_norm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做范数裁剪，限制单客户端更新影响。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7104018-2444-710B-8D09-EFF77DCCD81C}"/>
              </a:ext>
            </a:extLst>
          </p:cNvPr>
          <p:cNvSpPr txBox="1"/>
          <p:nvPr/>
        </p:nvSpPr>
        <p:spPr>
          <a:xfrm>
            <a:off x="7740084" y="3932139"/>
            <a:ext cx="4088015" cy="10237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噪声扰动：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加入 </a:t>
            </a: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Gaussian / Laplace / Hybrid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噪声，降低更新泄露风险。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BE78FAD-8111-F423-2785-BEA9D398D610}"/>
              </a:ext>
            </a:extLst>
          </p:cNvPr>
          <p:cNvSpPr txBox="1"/>
          <p:nvPr/>
        </p:nvSpPr>
        <p:spPr>
          <a:xfrm>
            <a:off x="7740084" y="5031843"/>
            <a:ext cx="4171852" cy="102374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自适应机制：</a:t>
            </a:r>
            <a:endParaRPr lang="en-US" altLang="zh-CN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Adaptive Hybrid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根据更新相对范数动态调整噪声比例。</a:t>
            </a:r>
          </a:p>
        </p:txBody>
      </p:sp>
    </p:spTree>
    <p:extLst>
      <p:ext uri="{BB962C8B-B14F-4D97-AF65-F5344CB8AC3E}">
        <p14:creationId xmlns:p14="http://schemas.microsoft.com/office/powerpoint/2010/main" val="4089955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92A14BFB-AF87-5A69-5574-15CE04264A19}"/>
              </a:ext>
            </a:extLst>
          </p:cNvPr>
          <p:cNvSpPr txBox="1"/>
          <p:nvPr/>
        </p:nvSpPr>
        <p:spPr>
          <a:xfrm>
            <a:off x="5645787" y="1546960"/>
            <a:ext cx="65434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rgbClr val="0E4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3</a:t>
            </a:r>
            <a:endParaRPr lang="zh-CN" altLang="en-US" sz="6600" b="1" dirty="0">
              <a:solidFill>
                <a:srgbClr val="0E41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18B82037-845B-8B70-4F94-7C7EB98F993C}"/>
              </a:ext>
            </a:extLst>
          </p:cNvPr>
          <p:cNvGrpSpPr/>
          <p:nvPr/>
        </p:nvGrpSpPr>
        <p:grpSpPr>
          <a:xfrm>
            <a:off x="4197085" y="3083379"/>
            <a:ext cx="3797836" cy="1236772"/>
            <a:chOff x="558532" y="2267746"/>
            <a:chExt cx="3797836" cy="123677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0F834F90-5F0F-035F-6395-CC3FE77136F1}"/>
                </a:ext>
              </a:extLst>
            </p:cNvPr>
            <p:cNvSpPr txBox="1"/>
            <p:nvPr/>
          </p:nvSpPr>
          <p:spPr>
            <a:xfrm>
              <a:off x="980119" y="2267746"/>
              <a:ext cx="29322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实现流程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5F66DDDB-D845-9D8D-487B-7ACE789E4D10}"/>
                </a:ext>
              </a:extLst>
            </p:cNvPr>
            <p:cNvSpPr txBox="1"/>
            <p:nvPr/>
          </p:nvSpPr>
          <p:spPr>
            <a:xfrm>
              <a:off x="558532" y="3196741"/>
              <a:ext cx="379783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Implementation Process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21514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D32EA2-24CF-34AA-DECF-0B88B59D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FB508E-75DB-2B3C-1373-1E53B2CBC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757B548-6EB4-C06F-A305-9DBADAF8E907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3.1 </a:t>
            </a:r>
            <a:r>
              <a:rPr lang="zh-CN" alt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训练流程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7B132D-8F31-38BF-61BE-445F1CEC570A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8E4E82-6676-AF82-A275-0EC73FF5A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2849943-426B-3DC0-D780-275BD6F43E0A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4A199F1-EA66-5BA9-BE6A-DCD2AEB65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609" y="1870633"/>
            <a:ext cx="9428782" cy="456777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359ACDE-866E-DF9A-2B40-56D9E47CA560}"/>
              </a:ext>
            </a:extLst>
          </p:cNvPr>
          <p:cNvSpPr txBox="1"/>
          <p:nvPr/>
        </p:nvSpPr>
        <p:spPr>
          <a:xfrm>
            <a:off x="430521" y="785224"/>
            <a:ext cx="4088015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联邦训练流程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DEA4AC6-A280-44BB-EFF0-0DE7F735B783}"/>
              </a:ext>
            </a:extLst>
          </p:cNvPr>
          <p:cNvGrpSpPr/>
          <p:nvPr/>
        </p:nvGrpSpPr>
        <p:grpSpPr>
          <a:xfrm>
            <a:off x="290159" y="1665499"/>
            <a:ext cx="3973400" cy="82053"/>
            <a:chOff x="8199557" y="2118221"/>
            <a:chExt cx="3973400" cy="82053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DE3CEDB4-6BF5-E3D1-8106-5ACCC5ECCABE}"/>
                </a:ext>
              </a:extLst>
            </p:cNvPr>
            <p:cNvCxnSpPr/>
            <p:nvPr/>
          </p:nvCxnSpPr>
          <p:spPr>
            <a:xfrm>
              <a:off x="8228141" y="2200274"/>
              <a:ext cx="3944816" cy="0"/>
            </a:xfrm>
            <a:prstGeom prst="line">
              <a:avLst/>
            </a:prstGeom>
            <a:ln w="19050">
              <a:solidFill>
                <a:srgbClr val="DABA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9B462C4-AF7E-5F9B-55C6-D8E0FAE2C604}"/>
                </a:ext>
              </a:extLst>
            </p:cNvPr>
            <p:cNvSpPr/>
            <p:nvPr/>
          </p:nvSpPr>
          <p:spPr>
            <a:xfrm>
              <a:off x="8199557" y="2118221"/>
              <a:ext cx="1044454" cy="82053"/>
            </a:xfrm>
            <a:prstGeom prst="rect">
              <a:avLst/>
            </a:prstGeom>
            <a:pattFill prst="wdDnDiag">
              <a:fgClr>
                <a:srgbClr val="DABA6A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7709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DF547-FDCB-1FF6-19DA-678D3DF29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7BCD95B9-34DB-2D48-6E56-C02846C660E6}"/>
              </a:ext>
            </a:extLst>
          </p:cNvPr>
          <p:cNvSpPr txBox="1"/>
          <p:nvPr/>
        </p:nvSpPr>
        <p:spPr>
          <a:xfrm>
            <a:off x="5645787" y="1546960"/>
            <a:ext cx="65434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rgbClr val="0E4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4</a:t>
            </a:r>
            <a:endParaRPr lang="zh-CN" altLang="en-US" sz="6600" b="1" dirty="0">
              <a:solidFill>
                <a:srgbClr val="0E41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F7079FC-09B3-3641-F2F9-8FF358E5F171}"/>
              </a:ext>
            </a:extLst>
          </p:cNvPr>
          <p:cNvGrpSpPr/>
          <p:nvPr/>
        </p:nvGrpSpPr>
        <p:grpSpPr>
          <a:xfrm>
            <a:off x="4387843" y="3083379"/>
            <a:ext cx="3416321" cy="1236772"/>
            <a:chOff x="749290" y="2267746"/>
            <a:chExt cx="3416321" cy="123677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D01306B-CD2A-A820-1E5E-A510C17B383B}"/>
                </a:ext>
              </a:extLst>
            </p:cNvPr>
            <p:cNvSpPr txBox="1"/>
            <p:nvPr/>
          </p:nvSpPr>
          <p:spPr>
            <a:xfrm>
              <a:off x="980119" y="2267746"/>
              <a:ext cx="29322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实验结果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D009233-A963-9FC1-AC0F-5803EFB48352}"/>
                </a:ext>
              </a:extLst>
            </p:cNvPr>
            <p:cNvSpPr txBox="1"/>
            <p:nvPr/>
          </p:nvSpPr>
          <p:spPr>
            <a:xfrm>
              <a:off x="749290" y="3196741"/>
              <a:ext cx="34163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Experimental Results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3365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8C3D93-7FC1-75F4-01EE-65CB22F6D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15338A-1A6F-7296-67BE-C84B3CFB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21F172C-4F59-778E-BFE5-93D3D16727AA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.1</a:t>
            </a:r>
            <a:r>
              <a:rPr lang="zh-CN" altLang="en-US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zh-CN" alt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主实验结果展示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FCFCE9-5047-A3F8-0311-AFB6A7BF1C80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36DBBEA-3D71-F4E8-C2B4-F779211C4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90F6CFA-F2B3-9809-C522-DC8532CE8969}"/>
              </a:ext>
            </a:extLst>
          </p:cNvPr>
          <p:cNvSpPr/>
          <p:nvPr/>
        </p:nvSpPr>
        <p:spPr>
          <a:xfrm>
            <a:off x="3623256" y="1183934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ACD4FBB-CA58-166B-4890-335B69298A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98" y="1778877"/>
            <a:ext cx="6357878" cy="35763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AF14EF0-D93E-FB0B-844C-F08F74983F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3025" y="3068747"/>
            <a:ext cx="5655972" cy="3181484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778C5D2-EAB7-C83A-B7DA-F3695330C7AC}"/>
              </a:ext>
            </a:extLst>
          </p:cNvPr>
          <p:cNvSpPr txBox="1"/>
          <p:nvPr/>
        </p:nvSpPr>
        <p:spPr>
          <a:xfrm>
            <a:off x="1182710" y="1077815"/>
            <a:ext cx="464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主实验分类指标对比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CABDC90-CF2D-75A0-A6DC-42C68E1162E0}"/>
              </a:ext>
            </a:extLst>
          </p:cNvPr>
          <p:cNvSpPr txBox="1"/>
          <p:nvPr/>
        </p:nvSpPr>
        <p:spPr>
          <a:xfrm>
            <a:off x="7401059" y="2329868"/>
            <a:ext cx="3808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灵敏度特异度对比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0892FC0D-7097-396B-3924-A08F9703E188}"/>
              </a:ext>
            </a:extLst>
          </p:cNvPr>
          <p:cNvGrpSpPr/>
          <p:nvPr/>
        </p:nvGrpSpPr>
        <p:grpSpPr>
          <a:xfrm>
            <a:off x="478584" y="1737850"/>
            <a:ext cx="3973400" cy="82053"/>
            <a:chOff x="8199557" y="2118221"/>
            <a:chExt cx="3973400" cy="82053"/>
          </a:xfrm>
        </p:grpSpPr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BA514E97-E193-F0E6-41CB-FB73273F2952}"/>
                </a:ext>
              </a:extLst>
            </p:cNvPr>
            <p:cNvCxnSpPr/>
            <p:nvPr/>
          </p:nvCxnSpPr>
          <p:spPr>
            <a:xfrm>
              <a:off x="8228141" y="2200274"/>
              <a:ext cx="3944816" cy="0"/>
            </a:xfrm>
            <a:prstGeom prst="line">
              <a:avLst/>
            </a:prstGeom>
            <a:ln w="19050">
              <a:solidFill>
                <a:srgbClr val="DABA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04355BF-9FB3-FDC1-067F-BCA16AA17759}"/>
                </a:ext>
              </a:extLst>
            </p:cNvPr>
            <p:cNvSpPr/>
            <p:nvPr/>
          </p:nvSpPr>
          <p:spPr>
            <a:xfrm>
              <a:off x="8199557" y="2118221"/>
              <a:ext cx="1044454" cy="82053"/>
            </a:xfrm>
            <a:prstGeom prst="rect">
              <a:avLst/>
            </a:prstGeom>
            <a:pattFill prst="wdDnDiag">
              <a:fgClr>
                <a:srgbClr val="DABA6A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9B3CB64-BE80-33B0-0D1C-DB8CA566AF69}"/>
              </a:ext>
            </a:extLst>
          </p:cNvPr>
          <p:cNvGrpSpPr/>
          <p:nvPr/>
        </p:nvGrpSpPr>
        <p:grpSpPr>
          <a:xfrm flipH="1">
            <a:off x="7611497" y="2959207"/>
            <a:ext cx="999011" cy="164719"/>
            <a:chOff x="1925198" y="4947002"/>
            <a:chExt cx="4616074" cy="761107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30B13BBA-D682-875E-F16E-8F6D93AE1B14}"/>
                </a:ext>
              </a:extLst>
            </p:cNvPr>
            <p:cNvGrpSpPr/>
            <p:nvPr/>
          </p:nvGrpSpPr>
          <p:grpSpPr>
            <a:xfrm>
              <a:off x="1925198" y="4964880"/>
              <a:ext cx="1536983" cy="743229"/>
              <a:chOff x="3221502" y="4885688"/>
              <a:chExt cx="1403706" cy="678781"/>
            </a:xfrm>
          </p:grpSpPr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B9856018-CB7E-6FEF-27DF-04C7D91EE311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连接符 29">
                <a:extLst>
                  <a:ext uri="{FF2B5EF4-FFF2-40B4-BE49-F238E27FC236}">
                    <a16:creationId xmlns:a16="http://schemas.microsoft.com/office/drawing/2014/main" id="{B95C7839-A476-2B21-5EF4-06029F96B0E3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5BE158F9-EC86-DBAC-6BA6-60429D40AB17}"/>
                </a:ext>
              </a:extLst>
            </p:cNvPr>
            <p:cNvGrpSpPr/>
            <p:nvPr/>
          </p:nvGrpSpPr>
          <p:grpSpPr>
            <a:xfrm>
              <a:off x="3471289" y="4963459"/>
              <a:ext cx="1536983" cy="743229"/>
              <a:chOff x="3221502" y="4885688"/>
              <a:chExt cx="1403706" cy="678781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D9230306-6713-2EEB-EBF7-48B7870A6D94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83E40FB2-9303-8993-56CB-7D02F89B1F13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2BD174EC-844C-996E-7684-B046D911D335}"/>
                </a:ext>
              </a:extLst>
            </p:cNvPr>
            <p:cNvGrpSpPr/>
            <p:nvPr/>
          </p:nvGrpSpPr>
          <p:grpSpPr>
            <a:xfrm>
              <a:off x="5004289" y="4947002"/>
              <a:ext cx="1536983" cy="743229"/>
              <a:chOff x="3221502" y="4885688"/>
              <a:chExt cx="1403706" cy="678781"/>
            </a:xfrm>
          </p:grpSpPr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9EBCB0E0-688A-90D9-44D8-101202E63CDD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DB4612DC-A084-8966-9605-7EA6E882EDD1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50942F2A-BEF8-6FA7-2806-4A77CC579841}"/>
              </a:ext>
            </a:extLst>
          </p:cNvPr>
          <p:cNvSpPr txBox="1"/>
          <p:nvPr/>
        </p:nvSpPr>
        <p:spPr>
          <a:xfrm>
            <a:off x="818341" y="5229999"/>
            <a:ext cx="4861775" cy="1020227"/>
          </a:xfrm>
          <a:prstGeom prst="rect">
            <a:avLst/>
          </a:prstGeom>
          <a:noFill/>
        </p:spPr>
        <p:txBody>
          <a:bodyPr wrap="square" lIns="101600" tIns="50800" rIns="101600" bIns="50800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 b="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各配置</a:t>
            </a:r>
            <a:r>
              <a:rPr sz="1400" b="0" dirty="0">
                <a:solidFill>
                  <a:srgbClr val="1C2B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Accuracy</a:t>
            </a:r>
            <a:r>
              <a:rPr sz="1400" b="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集中在</a:t>
            </a:r>
            <a:r>
              <a:rPr sz="1400" b="0" dirty="0">
                <a:solidFill>
                  <a:srgbClr val="1C2B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0.86-0.88</a:t>
            </a:r>
            <a:r>
              <a:rPr sz="1400" b="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1400" b="0" dirty="0">
                <a:solidFill>
                  <a:srgbClr val="1C2B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AUC</a:t>
            </a:r>
            <a:r>
              <a:rPr sz="1400" b="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均高于</a:t>
            </a:r>
            <a:r>
              <a:rPr sz="1400" b="0" dirty="0">
                <a:solidFill>
                  <a:srgbClr val="1C2B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0.89</a:t>
            </a:r>
            <a:r>
              <a:rPr sz="1400" b="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1400" b="0" dirty="0">
              <a:solidFill>
                <a:srgbClr val="1C2B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说明加入隐私扰动后模型区分能力未明显下降，</a:t>
            </a:r>
            <a:endParaRPr lang="en-US" altLang="zh-CN" sz="1400" dirty="0">
              <a:solidFill>
                <a:srgbClr val="1C2B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但恶性样本召回仍是主要短板，医学任务不能只看</a:t>
            </a:r>
            <a:r>
              <a:rPr lang="en-US" altLang="zh-CN" sz="1400" dirty="0">
                <a:solidFill>
                  <a:srgbClr val="1C2B3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Accuracy</a:t>
            </a:r>
            <a:r>
              <a:rPr lang="zh-CN" altLang="en-US" sz="140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1400" b="0" dirty="0">
              <a:solidFill>
                <a:srgbClr val="1C2B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4920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247A7-9FF3-354B-5784-18A77E62D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DB4770-323A-A82D-B56F-8438C716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85451" y="6345341"/>
            <a:ext cx="2743200" cy="365125"/>
          </a:xfrm>
        </p:spPr>
        <p:txBody>
          <a:bodyPr/>
          <a:lstStyle/>
          <a:p>
            <a:fld id="{129838D8-0A4F-4CB2-AF8A-7682433288ED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AB311F5-99F0-8DA8-7D55-67A670580528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</a:t>
            </a:r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.2 </a:t>
            </a:r>
            <a:r>
              <a:rPr lang="zh-CN" alt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隐私评估展示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B776837-D54B-6EA5-D91C-0251F0EE8D54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7903C1C-8C67-88F1-BCAB-322331BBA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31889F5-AC75-EAE6-B86B-5D65A010258D}"/>
              </a:ext>
            </a:extLst>
          </p:cNvPr>
          <p:cNvSpPr/>
          <p:nvPr/>
        </p:nvSpPr>
        <p:spPr>
          <a:xfrm>
            <a:off x="3709115" y="1130317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C23A4C7-9799-E9AC-BB9B-6931430FB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469" y="1438712"/>
            <a:ext cx="8722897" cy="4906629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B7BEF51-D46A-8CB8-6616-EA09281511FC}"/>
              </a:ext>
            </a:extLst>
          </p:cNvPr>
          <p:cNvSpPr txBox="1"/>
          <p:nvPr/>
        </p:nvSpPr>
        <p:spPr>
          <a:xfrm>
            <a:off x="573966" y="830911"/>
            <a:ext cx="5165349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成员推断攻击指标对比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76897A3-4949-FDBD-7B3E-D1D86E8BCCD5}"/>
              </a:ext>
            </a:extLst>
          </p:cNvPr>
          <p:cNvGrpSpPr/>
          <p:nvPr/>
        </p:nvGrpSpPr>
        <p:grpSpPr>
          <a:xfrm flipH="1">
            <a:off x="1573003" y="1637141"/>
            <a:ext cx="999011" cy="164719"/>
            <a:chOff x="1925198" y="4947002"/>
            <a:chExt cx="4616074" cy="761107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5C573EF-9A1E-60D6-2576-54761D9E18C4}"/>
                </a:ext>
              </a:extLst>
            </p:cNvPr>
            <p:cNvGrpSpPr/>
            <p:nvPr/>
          </p:nvGrpSpPr>
          <p:grpSpPr>
            <a:xfrm>
              <a:off x="1925198" y="4964880"/>
              <a:ext cx="1536983" cy="743229"/>
              <a:chOff x="3221502" y="4885688"/>
              <a:chExt cx="1403706" cy="678781"/>
            </a:xfrm>
          </p:grpSpPr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7AA8ED77-902D-866E-C307-920889489921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4A2CB129-0A2C-850E-3013-6C939FEAA795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FBF83C97-A756-E066-4645-EE5C7C3F2EF6}"/>
                </a:ext>
              </a:extLst>
            </p:cNvPr>
            <p:cNvGrpSpPr/>
            <p:nvPr/>
          </p:nvGrpSpPr>
          <p:grpSpPr>
            <a:xfrm>
              <a:off x="3471289" y="4963459"/>
              <a:ext cx="1536983" cy="743229"/>
              <a:chOff x="3221502" y="4885688"/>
              <a:chExt cx="1403706" cy="678781"/>
            </a:xfrm>
          </p:grpSpPr>
          <p:cxnSp>
            <p:nvCxnSpPr>
              <p:cNvPr id="19" name="直接连接符 18">
                <a:extLst>
                  <a:ext uri="{FF2B5EF4-FFF2-40B4-BE49-F238E27FC236}">
                    <a16:creationId xmlns:a16="http://schemas.microsoft.com/office/drawing/2014/main" id="{6E5D41FB-01CC-BCE6-1AC0-B6632D16EFE9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E1FA5E86-CE2B-CDD3-AC0D-B07E4BCC3A51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B1FFF679-FA19-56DF-FBE8-32BB6ED71787}"/>
                </a:ext>
              </a:extLst>
            </p:cNvPr>
            <p:cNvGrpSpPr/>
            <p:nvPr/>
          </p:nvGrpSpPr>
          <p:grpSpPr>
            <a:xfrm>
              <a:off x="5004289" y="4947002"/>
              <a:ext cx="1536983" cy="743229"/>
              <a:chOff x="3221502" y="4885688"/>
              <a:chExt cx="1403706" cy="678781"/>
            </a:xfrm>
          </p:grpSpPr>
          <p:cxnSp>
            <p:nvCxnSpPr>
              <p:cNvPr id="17" name="直接连接符 16">
                <a:extLst>
                  <a:ext uri="{FF2B5EF4-FFF2-40B4-BE49-F238E27FC236}">
                    <a16:creationId xmlns:a16="http://schemas.microsoft.com/office/drawing/2014/main" id="{92D99F13-3AA5-B6E0-C2B2-EFF768846329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>
                <a:extLst>
                  <a:ext uri="{FF2B5EF4-FFF2-40B4-BE49-F238E27FC236}">
                    <a16:creationId xmlns:a16="http://schemas.microsoft.com/office/drawing/2014/main" id="{0F59681C-C608-4BD0-2D40-5F58826DF3C9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2E519D8F-C496-2CDF-5CCC-7B480A528655}"/>
              </a:ext>
            </a:extLst>
          </p:cNvPr>
          <p:cNvSpPr txBox="1"/>
          <p:nvPr/>
        </p:nvSpPr>
        <p:spPr>
          <a:xfrm>
            <a:off x="2130000" y="5720000"/>
            <a:ext cx="8200000" cy="700000"/>
          </a:xfrm>
          <a:prstGeom prst="rect">
            <a:avLst/>
          </a:prstGeom>
          <a:noFill/>
        </p:spPr>
        <p:txBody>
          <a:bodyPr wrap="square" lIns="101600" tIns="50800" rIns="101600" bIns="50800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各组攻击准确率接近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0.50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，接近随机猜测基线，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说明当前攻击设置下成员区分能力有限，但不代表绝对安全。</a:t>
            </a:r>
          </a:p>
        </p:txBody>
      </p:sp>
    </p:spTree>
    <p:extLst>
      <p:ext uri="{BB962C8B-B14F-4D97-AF65-F5344CB8AC3E}">
        <p14:creationId xmlns:p14="http://schemas.microsoft.com/office/powerpoint/2010/main" val="1169166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B5861-5235-02DE-62E1-879BB5EE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5CA0C68E-D3AD-1C66-2B78-00965BE14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1139" y="1120000"/>
            <a:ext cx="4962574" cy="4895512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3CF4E-11E0-45E7-63D7-6656CA15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6E44FB-C9D5-878C-28F4-FFBA8035A75D}"/>
              </a:ext>
            </a:extLst>
          </p:cNvPr>
          <p:cNvSpPr txBox="1"/>
          <p:nvPr/>
        </p:nvSpPr>
        <p:spPr>
          <a:xfrm>
            <a:off x="290159" y="147533"/>
            <a:ext cx="87228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4.3 </a:t>
            </a:r>
            <a:r>
              <a:rPr lang="zh-CN" altLang="en-US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消融实验结果展示</a:t>
            </a:r>
          </a:p>
          <a:p>
            <a:pPr algn="l"/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069E71-2514-1380-DE99-C874C8224D1C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3D252E-0CF0-215A-CCDD-478BB05BD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0000" y="910000"/>
            <a:ext cx="480131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关键参数对系统性能与代价的影响</a:t>
            </a:r>
          </a:p>
          <a:p>
            <a:pPr algn="l"/>
            <a:endParaRPr sz="2400" b="1" dirty="0"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0000" y="1565668"/>
            <a:ext cx="7028025" cy="854961"/>
          </a:xfrm>
          <a:prstGeom prst="rect">
            <a:avLst/>
          </a:prstGeom>
          <a:noFill/>
        </p:spPr>
        <p:txBody>
          <a:bodyPr wrap="square" lIns="101600" tIns="50800" rIns="101600" bIns="50800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消融实验用于观察客户端数量、裁剪阈值、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Non-IID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程度和噪声强度等变量对模型效用、隐私风险和系统代价的影响。</a:t>
            </a:r>
          </a:p>
          <a:p>
            <a:pPr algn="l">
              <a:lnSpc>
                <a:spcPct val="105000"/>
              </a:lnSpc>
            </a:pPr>
            <a:endParaRPr sz="1600" b="0" dirty="0">
              <a:solidFill>
                <a:srgbClr val="4F5963"/>
              </a:solidFill>
              <a:latin typeface="Microsoft YaHe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60000" y="2551825"/>
            <a:ext cx="5100000" cy="1450000"/>
          </a:xfrm>
          <a:prstGeom prst="roundRect">
            <a:avLst/>
          </a:prstGeom>
          <a:solidFill>
            <a:srgbClr val="E5F4F6"/>
          </a:solidFill>
          <a:ln w="12700">
            <a:solidFill>
              <a:srgbClr val="CD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88600" y="2755025"/>
            <a:ext cx="533400" cy="304800"/>
          </a:xfrm>
          <a:prstGeom prst="roundRect">
            <a:avLst/>
          </a:prstGeom>
          <a:solidFill>
            <a:srgbClr val="1F6977"/>
          </a:solidFill>
          <a:ln>
            <a:solidFill>
              <a:srgbClr val="1F69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25200" y="2704225"/>
            <a:ext cx="13388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1" dirty="0">
                <a:solidFill>
                  <a:srgbClr val="1F697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客户端数量</a:t>
            </a:r>
          </a:p>
          <a:p>
            <a:pPr algn="l"/>
            <a:endParaRPr sz="1800" b="1" dirty="0">
              <a:solidFill>
                <a:srgbClr val="1F697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88600" y="3288425"/>
            <a:ext cx="4642800" cy="535600"/>
          </a:xfrm>
          <a:prstGeom prst="rect">
            <a:avLst/>
          </a:prstGeom>
          <a:noFill/>
        </p:spPr>
        <p:txBody>
          <a:bodyPr wrap="square" lIns="101600" tIns="50800" rIns="101600" bIns="5080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1600" b="0" dirty="0">
                <a:solidFill>
                  <a:srgbClr val="4F59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通信量明显增加，但准确率不一定同步提升。</a:t>
            </a:r>
          </a:p>
          <a:p>
            <a:pPr algn="l">
              <a:lnSpc>
                <a:spcPct val="105000"/>
              </a:lnSpc>
            </a:pPr>
            <a:endParaRPr sz="1600" b="0" dirty="0">
              <a:solidFill>
                <a:srgbClr val="4F5963"/>
              </a:solidFill>
              <a:latin typeface="Microsoft YaHe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30000" y="2551825"/>
            <a:ext cx="5100000" cy="1450000"/>
          </a:xfrm>
          <a:prstGeom prst="roundRect">
            <a:avLst/>
          </a:prstGeom>
          <a:solidFill>
            <a:srgbClr val="E8F1FF"/>
          </a:solidFill>
          <a:ln w="12700">
            <a:solidFill>
              <a:srgbClr val="CD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558600" y="2755025"/>
            <a:ext cx="533400" cy="304800"/>
          </a:xfrm>
          <a:prstGeom prst="roundRect">
            <a:avLst/>
          </a:prstGeom>
          <a:solidFill>
            <a:srgbClr val="2D6FBF"/>
          </a:solidFill>
          <a:ln>
            <a:solidFill>
              <a:srgbClr val="2D6F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5199" y="2704225"/>
            <a:ext cx="15398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D6FB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裁剪阈值</a:t>
            </a:r>
          </a:p>
          <a:p>
            <a:pPr algn="l"/>
            <a:endParaRPr sz="1800" b="1" dirty="0">
              <a:solidFill>
                <a:srgbClr val="2D6FB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58600" y="3288425"/>
            <a:ext cx="4642800" cy="535600"/>
          </a:xfrm>
          <a:prstGeom prst="rect">
            <a:avLst/>
          </a:prstGeom>
          <a:noFill/>
        </p:spPr>
        <p:txBody>
          <a:bodyPr wrap="square" lIns="101600" tIns="50800" rIns="101600" bIns="50800">
            <a:noAutofit/>
          </a:bodyPr>
          <a:lstStyle/>
          <a:p>
            <a:pPr algn="l">
              <a:lnSpc>
                <a:spcPct val="105000"/>
              </a:lnSpc>
            </a:pPr>
            <a:r>
              <a:rPr lang="zh-CN" altLang="en-US" sz="1600" b="0" dirty="0">
                <a:solidFill>
                  <a:srgbClr val="4F59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过强裁剪限制有效更新，过弱裁剪降低敏感度控制效果。</a:t>
            </a:r>
          </a:p>
          <a:p>
            <a:pPr algn="l">
              <a:lnSpc>
                <a:spcPct val="105000"/>
              </a:lnSpc>
            </a:pPr>
            <a:endParaRPr sz="1600" b="0" dirty="0">
              <a:solidFill>
                <a:srgbClr val="4F59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60000" y="4421825"/>
            <a:ext cx="5100000" cy="1450000"/>
          </a:xfrm>
          <a:prstGeom prst="roundRect">
            <a:avLst/>
          </a:prstGeom>
          <a:solidFill>
            <a:srgbClr val="E8F6ED"/>
          </a:solidFill>
          <a:ln w="12700">
            <a:solidFill>
              <a:srgbClr val="CD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88600" y="4625025"/>
            <a:ext cx="533400" cy="304800"/>
          </a:xfrm>
          <a:prstGeom prst="roundRect">
            <a:avLst/>
          </a:prstGeom>
          <a:solidFill>
            <a:srgbClr val="247D53"/>
          </a:solidFill>
          <a:ln>
            <a:solidFill>
              <a:srgbClr val="24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25200" y="4574225"/>
            <a:ext cx="158088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1800" b="1" dirty="0">
                <a:solidFill>
                  <a:srgbClr val="247D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Non-IID</a:t>
            </a:r>
            <a:r>
              <a:rPr lang="zh-CN" altLang="en-US" sz="1800" b="1" dirty="0">
                <a:solidFill>
                  <a:srgbClr val="247D5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程度</a:t>
            </a:r>
          </a:p>
          <a:p>
            <a:pPr algn="l"/>
            <a:endParaRPr sz="1800" b="1" dirty="0">
              <a:solidFill>
                <a:srgbClr val="247D5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88600" y="5158425"/>
            <a:ext cx="4642800" cy="535600"/>
          </a:xfrm>
          <a:prstGeom prst="rect">
            <a:avLst/>
          </a:prstGeom>
          <a:noFill/>
        </p:spPr>
        <p:txBody>
          <a:bodyPr wrap="square" lIns="101600" tIns="50800" rIns="101600" bIns="50800">
            <a:noAutofit/>
          </a:bodyPr>
          <a:lstStyle/>
          <a:p>
            <a:pPr algn="l">
              <a:lnSpc>
                <a:spcPct val="105000"/>
              </a:lnSpc>
            </a:pPr>
            <a:r>
              <a:rPr lang="en-US" altLang="zh-CN" sz="1600" b="0" dirty="0">
                <a:solidFill>
                  <a:srgbClr val="4F596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Dirichlet α</a:t>
            </a:r>
            <a:r>
              <a:rPr lang="zh-CN" altLang="en-US" sz="1600" b="0" dirty="0">
                <a:solidFill>
                  <a:srgbClr val="4F59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较小时数据更不均衡，模型性能更容易下降。</a:t>
            </a:r>
          </a:p>
          <a:p>
            <a:pPr algn="l">
              <a:lnSpc>
                <a:spcPct val="105000"/>
              </a:lnSpc>
            </a:pPr>
            <a:endParaRPr sz="1600" b="0" dirty="0">
              <a:solidFill>
                <a:srgbClr val="4F596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330000" y="4421825"/>
            <a:ext cx="5100000" cy="1450000"/>
          </a:xfrm>
          <a:prstGeom prst="roundRect">
            <a:avLst/>
          </a:prstGeom>
          <a:solidFill>
            <a:srgbClr val="FFF0E6"/>
          </a:solidFill>
          <a:ln w="12700">
            <a:solidFill>
              <a:srgbClr val="CD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558600" y="4625025"/>
            <a:ext cx="533400" cy="304800"/>
          </a:xfrm>
          <a:prstGeom prst="roundRect">
            <a:avLst/>
          </a:prstGeom>
          <a:solidFill>
            <a:srgbClr val="C2663A"/>
          </a:solidFill>
          <a:ln>
            <a:solidFill>
              <a:srgbClr val="C26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5199" y="4574225"/>
            <a:ext cx="12471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1800" b="1" dirty="0">
                <a:solidFill>
                  <a:srgbClr val="C2663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噪声强度</a:t>
            </a:r>
          </a:p>
          <a:p>
            <a:pPr algn="l"/>
            <a:endParaRPr sz="1800" b="1" dirty="0">
              <a:solidFill>
                <a:srgbClr val="C2663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58600" y="5158425"/>
            <a:ext cx="4642800" cy="535600"/>
          </a:xfrm>
          <a:prstGeom prst="rect">
            <a:avLst/>
          </a:prstGeom>
          <a:noFill/>
        </p:spPr>
        <p:txBody>
          <a:bodyPr wrap="square" lIns="101600" tIns="50800" rIns="101600" bIns="50800">
            <a:noAutofit/>
          </a:bodyPr>
          <a:lstStyle/>
          <a:p>
            <a:pPr>
              <a:lnSpc>
                <a:spcPct val="105000"/>
              </a:lnSpc>
            </a:pPr>
            <a:r>
              <a:rPr lang="zh-CN" altLang="en-US" sz="1600" dirty="0">
                <a:solidFill>
                  <a:srgbClr val="4F59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不同噪声强度会影响</a:t>
            </a:r>
            <a:r>
              <a:rPr lang="en-US" altLang="zh-CN" sz="1600" dirty="0">
                <a:solidFill>
                  <a:srgbClr val="4F596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Accuracy</a:t>
            </a:r>
            <a:r>
              <a:rPr lang="zh-CN" altLang="en-US" sz="1600" dirty="0">
                <a:solidFill>
                  <a:srgbClr val="4F596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、</a:t>
            </a:r>
            <a:r>
              <a:rPr lang="en-US" altLang="zh-CN" sz="1600" dirty="0">
                <a:solidFill>
                  <a:srgbClr val="4F596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AUC</a:t>
            </a:r>
            <a:r>
              <a:rPr lang="zh-CN" altLang="en-US" sz="1600" dirty="0">
                <a:solidFill>
                  <a:srgbClr val="4F59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srgbClr val="4F5963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F1</a:t>
            </a:r>
            <a:r>
              <a:rPr lang="zh-CN" altLang="en-US" sz="1600" dirty="0">
                <a:solidFill>
                  <a:srgbClr val="4F596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，需结合随机种子分析。</a:t>
            </a:r>
          </a:p>
          <a:p>
            <a:pPr algn="l">
              <a:lnSpc>
                <a:spcPct val="105000"/>
              </a:lnSpc>
            </a:pPr>
            <a:endParaRPr sz="1600" b="0" dirty="0">
              <a:solidFill>
                <a:srgbClr val="4F5963"/>
              </a:solidFill>
              <a:latin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6000" y="5738000"/>
            <a:ext cx="9900000" cy="430000"/>
          </a:xfrm>
          <a:prstGeom prst="rect">
            <a:avLst/>
          </a:prstGeom>
          <a:noFill/>
        </p:spPr>
        <p:txBody>
          <a:bodyPr wrap="square" lIns="101600" tIns="50800" rIns="101600" bIns="50800">
            <a:noAutofit/>
          </a:bodyPr>
          <a:lstStyle/>
          <a:p>
            <a:pPr algn="l">
              <a:lnSpc>
                <a:spcPct val="105000"/>
              </a:lnSpc>
            </a:pPr>
            <a:endParaRPr sz="1500" b="1" dirty="0">
              <a:solidFill>
                <a:srgbClr val="16525E"/>
              </a:solidFill>
              <a:latin typeface="Microsoft YaHei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AFACB85-9C52-A620-33BA-730569A0E1C6}"/>
              </a:ext>
            </a:extLst>
          </p:cNvPr>
          <p:cNvGrpSpPr/>
          <p:nvPr/>
        </p:nvGrpSpPr>
        <p:grpSpPr>
          <a:xfrm>
            <a:off x="551470" y="1427640"/>
            <a:ext cx="3973400" cy="82053"/>
            <a:chOff x="8199557" y="2118221"/>
            <a:chExt cx="3973400" cy="82053"/>
          </a:xfrm>
        </p:grpSpPr>
        <p:cxnSp>
          <p:nvCxnSpPr>
            <p:cNvPr id="28" name="直接连接符 27">
              <a:extLst>
                <a:ext uri="{FF2B5EF4-FFF2-40B4-BE49-F238E27FC236}">
                  <a16:creationId xmlns:a16="http://schemas.microsoft.com/office/drawing/2014/main" id="{650F3494-1B0C-E9B9-4923-CE375F5B0A89}"/>
                </a:ext>
              </a:extLst>
            </p:cNvPr>
            <p:cNvCxnSpPr/>
            <p:nvPr/>
          </p:nvCxnSpPr>
          <p:spPr>
            <a:xfrm>
              <a:off x="8228141" y="2200274"/>
              <a:ext cx="3944816" cy="0"/>
            </a:xfrm>
            <a:prstGeom prst="line">
              <a:avLst/>
            </a:prstGeom>
            <a:ln w="19050">
              <a:solidFill>
                <a:srgbClr val="DABA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D74F8B7-2328-664A-3E3C-C998237358D4}"/>
                </a:ext>
              </a:extLst>
            </p:cNvPr>
            <p:cNvSpPr/>
            <p:nvPr/>
          </p:nvSpPr>
          <p:spPr>
            <a:xfrm>
              <a:off x="8199557" y="2118221"/>
              <a:ext cx="1044454" cy="82053"/>
            </a:xfrm>
            <a:prstGeom prst="rect">
              <a:avLst/>
            </a:prstGeom>
            <a:pattFill prst="wdDnDiag">
              <a:fgClr>
                <a:srgbClr val="DABA6A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99368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4B5861-5235-02DE-62E1-879BB5EE0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3CF4E-11E0-45E7-63D7-6656CA153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86E44FB-C9D5-878C-28F4-FFBA8035A75D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4.4 高精度补充与稳定性分析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A069E71-2514-1380-DE99-C874C8224D1C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3D252E-0CF0-215A-CCDD-478BB05BD2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4BE30C2-A7D1-6917-8B7C-86EA300F9B20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7556373-58F3-2A37-AE9C-D51B1A150E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7" y="1633027"/>
            <a:ext cx="5992223" cy="337062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C4CE2D-5158-FDF2-E4F9-C250D9CB9D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1462" y="2926922"/>
            <a:ext cx="6096761" cy="342942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9638602-428E-75A9-51AA-B8192ABADFB4}"/>
              </a:ext>
            </a:extLst>
          </p:cNvPr>
          <p:cNvSpPr txBox="1"/>
          <p:nvPr/>
        </p:nvSpPr>
        <p:spPr>
          <a:xfrm>
            <a:off x="1246031" y="970289"/>
            <a:ext cx="4642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高精度补充实验性能对比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E6C2DB15-E51F-DB00-30E7-2986FDF4CB60}"/>
              </a:ext>
            </a:extLst>
          </p:cNvPr>
          <p:cNvGrpSpPr/>
          <p:nvPr/>
        </p:nvGrpSpPr>
        <p:grpSpPr>
          <a:xfrm>
            <a:off x="541905" y="1630324"/>
            <a:ext cx="3973400" cy="82053"/>
            <a:chOff x="8199557" y="2118221"/>
            <a:chExt cx="3973400" cy="82053"/>
          </a:xfrm>
        </p:grpSpPr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3E845027-40F0-2D4A-50D7-C4CFB0086E3C}"/>
                </a:ext>
              </a:extLst>
            </p:cNvPr>
            <p:cNvCxnSpPr/>
            <p:nvPr/>
          </p:nvCxnSpPr>
          <p:spPr>
            <a:xfrm>
              <a:off x="8228141" y="2200274"/>
              <a:ext cx="3944816" cy="0"/>
            </a:xfrm>
            <a:prstGeom prst="line">
              <a:avLst/>
            </a:prstGeom>
            <a:ln w="19050">
              <a:solidFill>
                <a:srgbClr val="DABA6A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A1CA491-91A4-0FA7-C3FA-192FBB6AF86F}"/>
                </a:ext>
              </a:extLst>
            </p:cNvPr>
            <p:cNvSpPr/>
            <p:nvPr/>
          </p:nvSpPr>
          <p:spPr>
            <a:xfrm>
              <a:off x="8199557" y="2118221"/>
              <a:ext cx="1044454" cy="82053"/>
            </a:xfrm>
            <a:prstGeom prst="rect">
              <a:avLst/>
            </a:prstGeom>
            <a:pattFill prst="wdDnDiag">
              <a:fgClr>
                <a:srgbClr val="DABA6A"/>
              </a:fgClr>
              <a:bgClr>
                <a:schemeClr val="bg1"/>
              </a:bgClr>
            </a:patt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F504449-74DB-CA47-6344-6499A907BA8B}"/>
              </a:ext>
            </a:extLst>
          </p:cNvPr>
          <p:cNvSpPr txBox="1"/>
          <p:nvPr/>
        </p:nvSpPr>
        <p:spPr>
          <a:xfrm>
            <a:off x="6880217" y="2293199"/>
            <a:ext cx="38089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多随机种子稳定性分析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A152719-6C10-37EA-1C1D-D35D3BD09B9B}"/>
              </a:ext>
            </a:extLst>
          </p:cNvPr>
          <p:cNvGrpSpPr/>
          <p:nvPr/>
        </p:nvGrpSpPr>
        <p:grpSpPr>
          <a:xfrm flipH="1">
            <a:off x="7216766" y="2955066"/>
            <a:ext cx="999011" cy="164719"/>
            <a:chOff x="1925198" y="4947002"/>
            <a:chExt cx="4616074" cy="761107"/>
          </a:xfrm>
        </p:grpSpPr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CE40564A-2745-3803-9E5F-2F1B9BE400EC}"/>
                </a:ext>
              </a:extLst>
            </p:cNvPr>
            <p:cNvGrpSpPr/>
            <p:nvPr/>
          </p:nvGrpSpPr>
          <p:grpSpPr>
            <a:xfrm>
              <a:off x="1925198" y="4964880"/>
              <a:ext cx="1536983" cy="743229"/>
              <a:chOff x="3221502" y="4885688"/>
              <a:chExt cx="1403706" cy="678781"/>
            </a:xfrm>
          </p:grpSpPr>
          <p:cxnSp>
            <p:nvCxnSpPr>
              <p:cNvPr id="24" name="直接连接符 23">
                <a:extLst>
                  <a:ext uri="{FF2B5EF4-FFF2-40B4-BE49-F238E27FC236}">
                    <a16:creationId xmlns:a16="http://schemas.microsoft.com/office/drawing/2014/main" id="{332BFCBE-11D5-3700-CD3D-3EAF80D4F5B8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6925F6D4-EA77-BEE4-6E47-A3DA8AED0B9B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68732BAA-B4AD-8EB9-8A3A-60E629B6D4AF}"/>
                </a:ext>
              </a:extLst>
            </p:cNvPr>
            <p:cNvGrpSpPr/>
            <p:nvPr/>
          </p:nvGrpSpPr>
          <p:grpSpPr>
            <a:xfrm>
              <a:off x="3471289" y="4963459"/>
              <a:ext cx="1536983" cy="743229"/>
              <a:chOff x="3221502" y="4885688"/>
              <a:chExt cx="1403706" cy="678781"/>
            </a:xfrm>
          </p:grpSpPr>
          <p:cxnSp>
            <p:nvCxnSpPr>
              <p:cNvPr id="22" name="直接连接符 21">
                <a:extLst>
                  <a:ext uri="{FF2B5EF4-FFF2-40B4-BE49-F238E27FC236}">
                    <a16:creationId xmlns:a16="http://schemas.microsoft.com/office/drawing/2014/main" id="{178C8E53-F834-F1F8-6434-6C4865B6DC13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>
                <a:extLst>
                  <a:ext uri="{FF2B5EF4-FFF2-40B4-BE49-F238E27FC236}">
                    <a16:creationId xmlns:a16="http://schemas.microsoft.com/office/drawing/2014/main" id="{459A86E4-F1AD-7668-989F-1085DF5E153E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F711D27E-A80D-968B-ADD5-3EF3DE57EA2F}"/>
                </a:ext>
              </a:extLst>
            </p:cNvPr>
            <p:cNvGrpSpPr/>
            <p:nvPr/>
          </p:nvGrpSpPr>
          <p:grpSpPr>
            <a:xfrm>
              <a:off x="5004289" y="4947002"/>
              <a:ext cx="1536983" cy="743229"/>
              <a:chOff x="3221502" y="4885688"/>
              <a:chExt cx="1403706" cy="678781"/>
            </a:xfrm>
          </p:grpSpPr>
          <p:cxnSp>
            <p:nvCxnSpPr>
              <p:cNvPr id="20" name="直接连接符 19">
                <a:extLst>
                  <a:ext uri="{FF2B5EF4-FFF2-40B4-BE49-F238E27FC236}">
                    <a16:creationId xmlns:a16="http://schemas.microsoft.com/office/drawing/2014/main" id="{F0F222FC-0E9B-1815-4603-CB9FE22088CE}"/>
                  </a:ext>
                </a:extLst>
              </p:cNvPr>
              <p:cNvCxnSpPr/>
              <p:nvPr/>
            </p:nvCxnSpPr>
            <p:spPr>
              <a:xfrm flipV="1">
                <a:off x="3221502" y="4885688"/>
                <a:ext cx="731520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接连接符 20">
                <a:extLst>
                  <a:ext uri="{FF2B5EF4-FFF2-40B4-BE49-F238E27FC236}">
                    <a16:creationId xmlns:a16="http://schemas.microsoft.com/office/drawing/2014/main" id="{1E019B3B-F6A1-D832-E733-75AC281921C5}"/>
                  </a:ext>
                </a:extLst>
              </p:cNvPr>
              <p:cNvCxnSpPr/>
              <p:nvPr/>
            </p:nvCxnSpPr>
            <p:spPr>
              <a:xfrm>
                <a:off x="3950065" y="4885688"/>
                <a:ext cx="675143" cy="678781"/>
              </a:xfrm>
              <a:prstGeom prst="line">
                <a:avLst/>
              </a:prstGeom>
              <a:ln w="12700">
                <a:solidFill>
                  <a:srgbClr val="A63A2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FFFBB86-0CEF-D670-B8CD-FA97F7113EFB}"/>
              </a:ext>
            </a:extLst>
          </p:cNvPr>
          <p:cNvSpPr txBox="1"/>
          <p:nvPr/>
        </p:nvSpPr>
        <p:spPr>
          <a:xfrm>
            <a:off x="638809" y="4761361"/>
            <a:ext cx="5010415" cy="1126350"/>
          </a:xfrm>
          <a:prstGeom prst="rect">
            <a:avLst/>
          </a:prstGeom>
          <a:noFill/>
        </p:spPr>
        <p:txBody>
          <a:bodyPr wrap="square" lIns="101600" tIns="50800" rIns="101600" bIns="5080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高精度补充实验用于观察性能上限，多随机种子结果用于验证训练稳定性。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1C2B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五模型加权集成提升分类性能，说明强模型与集成策略仍有提升空间。</a:t>
            </a:r>
          </a:p>
          <a:p>
            <a:pPr algn="l">
              <a:lnSpc>
                <a:spcPct val="105000"/>
              </a:lnSpc>
            </a:pPr>
            <a:endParaRPr sz="1450" b="0" dirty="0">
              <a:solidFill>
                <a:srgbClr val="1C2B33"/>
              </a:solidFill>
              <a:latin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6758093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E72C-4F9C-ABD0-C939-D391C0126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3D11290E-5D32-6DE3-C92E-8CE598FF7CCC}"/>
              </a:ext>
            </a:extLst>
          </p:cNvPr>
          <p:cNvSpPr txBox="1"/>
          <p:nvPr/>
        </p:nvSpPr>
        <p:spPr>
          <a:xfrm>
            <a:off x="5645787" y="1546960"/>
            <a:ext cx="65434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600" b="1" dirty="0">
                <a:solidFill>
                  <a:srgbClr val="0E419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5</a:t>
            </a:r>
            <a:endParaRPr lang="zh-CN" altLang="en-US" sz="6600" b="1" dirty="0">
              <a:solidFill>
                <a:srgbClr val="0E419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3E3E994-BACB-D266-EE13-6058CB2374BA}"/>
              </a:ext>
            </a:extLst>
          </p:cNvPr>
          <p:cNvGrpSpPr/>
          <p:nvPr/>
        </p:nvGrpSpPr>
        <p:grpSpPr>
          <a:xfrm>
            <a:off x="4534518" y="3083379"/>
            <a:ext cx="3122971" cy="1236772"/>
            <a:chOff x="895965" y="2267746"/>
            <a:chExt cx="3122971" cy="1236772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FF36A18-E6CD-36C6-B099-EB533C48C0B5}"/>
                </a:ext>
              </a:extLst>
            </p:cNvPr>
            <p:cNvSpPr txBox="1"/>
            <p:nvPr/>
          </p:nvSpPr>
          <p:spPr>
            <a:xfrm>
              <a:off x="980119" y="2267746"/>
              <a:ext cx="293221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4800" spc="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总结展望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20D0148-C9BE-861C-A990-B99F9F1C74C9}"/>
                </a:ext>
              </a:extLst>
            </p:cNvPr>
            <p:cNvSpPr txBox="1"/>
            <p:nvPr/>
          </p:nvSpPr>
          <p:spPr>
            <a:xfrm>
              <a:off x="895965" y="3196741"/>
              <a:ext cx="312297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400" spc="6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Conclusion Outlook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81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1D4E32-42F5-B33F-4CD9-E40EDEB4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8CC81CBE-DC53-38DA-62AD-CA5E41624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0" y="1319369"/>
            <a:ext cx="2901633" cy="4690757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EE45C4-EE95-5E54-7359-0DC04DC1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13A9F5A-D9AA-6A58-88A4-5D6F6AC24430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.1 </a:t>
            </a:r>
            <a:r>
              <a:rPr lang="zh-CN" altLang="en-US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总结与展望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6ACD79-86FA-8105-36C3-80463DC86515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B5414DC-C22A-F5E5-7902-DF0AB5EEE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05A33CF-CA15-1733-2DD5-E1DD69861B0C}"/>
              </a:ext>
            </a:extLst>
          </p:cNvPr>
          <p:cNvSpPr/>
          <p:nvPr/>
        </p:nvSpPr>
        <p:spPr>
          <a:xfrm>
            <a:off x="3665113" y="1133341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5DE814-6527-95F5-4F4D-DCA59C59C27A}"/>
              </a:ext>
            </a:extLst>
          </p:cNvPr>
          <p:cNvSpPr txBox="1"/>
          <p:nvPr/>
        </p:nvSpPr>
        <p:spPr>
          <a:xfrm>
            <a:off x="3464470" y="1625680"/>
            <a:ext cx="8099657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总结，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完成联邦训练、差分隐私、攻击评估与前端展示的一体化系统。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0D3FB05-5342-D5B5-B389-69BB7DB9458D}"/>
              </a:ext>
            </a:extLst>
          </p:cNvPr>
          <p:cNvSpPr/>
          <p:nvPr/>
        </p:nvSpPr>
        <p:spPr>
          <a:xfrm>
            <a:off x="2626038" y="1591243"/>
            <a:ext cx="576000" cy="576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ea typeface="思源黑体" panose="020B0500000000000000" pitchFamily="34" charset="-122"/>
                <a:cs typeface="Arial" panose="020B0604020202020204" pitchFamily="34" charset="0"/>
              </a:rPr>
              <a:t>1</a:t>
            </a:r>
            <a:endParaRPr lang="zh-CN" altLang="en-US" b="1" dirty="0">
              <a:latin typeface="Arial" panose="020B0604020202020204" pitchFamily="34" charset="0"/>
              <a:ea typeface="思源黑体" panose="020B05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AC4B1F2-D8DF-894B-83A1-FADDA9E1E74A}"/>
              </a:ext>
            </a:extLst>
          </p:cNvPr>
          <p:cNvSpPr/>
          <p:nvPr/>
        </p:nvSpPr>
        <p:spPr>
          <a:xfrm>
            <a:off x="3464470" y="3276937"/>
            <a:ext cx="576000" cy="576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ea typeface="思源黑体" panose="020B0500000000000000" pitchFamily="34" charset="-122"/>
                <a:cs typeface="Arial" panose="020B0604020202020204" pitchFamily="34" charset="0"/>
              </a:rPr>
              <a:t>2</a:t>
            </a:r>
            <a:endParaRPr lang="zh-CN" altLang="en-US" b="1" dirty="0">
              <a:latin typeface="Arial" panose="020B0604020202020204" pitchFamily="34" charset="0"/>
              <a:ea typeface="思源黑体" panose="020B05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88FE704-9B5E-A110-0D31-2DEE53757A21}"/>
              </a:ext>
            </a:extLst>
          </p:cNvPr>
          <p:cNvSpPr/>
          <p:nvPr/>
        </p:nvSpPr>
        <p:spPr>
          <a:xfrm>
            <a:off x="2626038" y="4962631"/>
            <a:ext cx="576000" cy="576000"/>
          </a:xfrm>
          <a:prstGeom prst="rect">
            <a:avLst/>
          </a:prstGeom>
          <a:solidFill>
            <a:srgbClr val="0E419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latin typeface="Arial" panose="020B0604020202020204" pitchFamily="34" charset="0"/>
                <a:ea typeface="思源黑体" panose="020B0500000000000000" pitchFamily="34" charset="-122"/>
                <a:cs typeface="Arial" panose="020B0604020202020204" pitchFamily="34" charset="0"/>
              </a:rPr>
              <a:t>3</a:t>
            </a:r>
            <a:endParaRPr lang="zh-CN" altLang="en-US" b="1" dirty="0">
              <a:latin typeface="Arial" panose="020B0604020202020204" pitchFamily="34" charset="0"/>
              <a:ea typeface="思源黑体" panose="020B05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0AD2EA6C-7D59-31B1-767E-96948FC4C6E4}"/>
              </a:ext>
            </a:extLst>
          </p:cNvPr>
          <p:cNvSpPr txBox="1"/>
          <p:nvPr/>
        </p:nvSpPr>
        <p:spPr>
          <a:xfrm>
            <a:off x="4182616" y="3311374"/>
            <a:ext cx="8099657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不足，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数据来源单一，隐私会计不够严格，任务和攻击类型仍有限。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00CA996-0206-5548-4CF6-2EBDD250EA84}"/>
              </a:ext>
            </a:extLst>
          </p:cNvPr>
          <p:cNvSpPr txBox="1"/>
          <p:nvPr/>
        </p:nvSpPr>
        <p:spPr>
          <a:xfrm>
            <a:off x="3389856" y="4997068"/>
            <a:ext cx="8099657" cy="499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展望，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armonyOS Sans SC Light" panose="00000400000000000000" pitchFamily="2" charset="-122"/>
              </a:rPr>
              <a:t>扩展多中心数据、完善隐私会计、优化召回率和攻击评估。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armonyOS Sans SC Light" panose="000004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45347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8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1017FA-D52E-FE27-CB80-8A3CA067B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9EB305-3323-B067-728A-DAE9C16E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838D8-0A4F-4CB2-AF8A-7682433288ED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92AB0AE-075A-890A-2C6B-73DFDB762788}"/>
              </a:ext>
            </a:extLst>
          </p:cNvPr>
          <p:cNvSpPr txBox="1"/>
          <p:nvPr/>
        </p:nvSpPr>
        <p:spPr>
          <a:xfrm>
            <a:off x="290159" y="147533"/>
            <a:ext cx="872289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kern="1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5</a:t>
            </a:r>
            <a:r>
              <a:rPr lang="en-US" altLang="zh-CN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.2 </a:t>
            </a:r>
            <a:r>
              <a:rPr lang="zh-CN" altLang="en-US" sz="2400" b="1" kern="1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演示视频</a:t>
            </a:r>
            <a:endParaRPr lang="zh-CN" altLang="zh-CN" sz="2400" b="1" kern="100" dirty="0">
              <a:solidFill>
                <a:schemeClr val="bg1"/>
              </a:solidFill>
              <a:effectLst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5A701B-681E-9CDF-A8CC-51E878BA7413}"/>
              </a:ext>
            </a:extLst>
          </p:cNvPr>
          <p:cNvSpPr/>
          <p:nvPr/>
        </p:nvSpPr>
        <p:spPr>
          <a:xfrm>
            <a:off x="8414951" y="147533"/>
            <a:ext cx="3700849" cy="566494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93DA153-9CA7-1B94-01B0-8E6DEC9203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4793" y="94473"/>
            <a:ext cx="2399270" cy="566494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534AB1B-EA91-9916-7864-4BA66893C682}"/>
              </a:ext>
            </a:extLst>
          </p:cNvPr>
          <p:cNvSpPr/>
          <p:nvPr/>
        </p:nvSpPr>
        <p:spPr>
          <a:xfrm>
            <a:off x="3567448" y="1191296"/>
            <a:ext cx="4945487" cy="48810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屏幕录制 2026-06-03 164419">
            <a:hlinkClick r:id="" action="ppaction://media"/>
            <a:extLst>
              <a:ext uri="{FF2B5EF4-FFF2-40B4-BE49-F238E27FC236}">
                <a16:creationId xmlns:a16="http://schemas.microsoft.com/office/drawing/2014/main" id="{D893EB23-9AF6-2156-A8F4-E27E646C732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33659" y="785611"/>
            <a:ext cx="9124682" cy="570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84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4393978-7FE4-9BB5-FA04-1781A55BAA95}"/>
              </a:ext>
            </a:extLst>
          </p:cNvPr>
          <p:cNvSpPr/>
          <p:nvPr/>
        </p:nvSpPr>
        <p:spPr>
          <a:xfrm>
            <a:off x="3348681" y="673443"/>
            <a:ext cx="5325762" cy="908222"/>
          </a:xfrm>
          <a:prstGeom prst="rect">
            <a:avLst/>
          </a:prstGeom>
          <a:solidFill>
            <a:srgbClr val="0E419C"/>
          </a:solidFill>
          <a:ln>
            <a:solidFill>
              <a:srgbClr val="0E419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ECDFAB-B6CF-250D-EE44-F5B4289DF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8987" y="614747"/>
            <a:ext cx="4304512" cy="1016343"/>
          </a:xfrm>
          <a:prstGeom prst="rect">
            <a:avLst/>
          </a:prstGeom>
        </p:spPr>
      </p:pic>
      <p:pic>
        <p:nvPicPr>
          <p:cNvPr id="1026" name="Picture 2" descr="处理后图片">
            <a:extLst>
              <a:ext uri="{FF2B5EF4-FFF2-40B4-BE49-F238E27FC236}">
                <a16:creationId xmlns:a16="http://schemas.microsoft.com/office/drawing/2014/main" id="{0AAB7DA5-D83B-757A-464F-282FDA2DC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617" y="2126425"/>
            <a:ext cx="10421263" cy="1016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375726"/>
      </p:ext>
    </p:extLst>
  </p:cSld>
  <p:clrMapOvr>
    <a:masterClrMapping/>
  </p:clrMapOvr>
</p:sld>
</file>

<file path=ppt/theme/theme1.xml><?xml version="1.0" encoding="utf-8"?>
<a:theme xmlns:a="http://schemas.openxmlformats.org/drawingml/2006/main" name="标题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研究内容-通用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录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小标题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结尾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814</Words>
  <Application>Microsoft Office PowerPoint</Application>
  <PresentationFormat>宽屏</PresentationFormat>
  <Paragraphs>145</Paragraphs>
  <Slides>20</Slides>
  <Notes>5</Notes>
  <HiddenSlides>0</HiddenSlides>
  <MMClips>1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等线</vt:lpstr>
      <vt:lpstr>思源黑体 CN</vt:lpstr>
      <vt:lpstr>微软雅黑</vt:lpstr>
      <vt:lpstr>微软雅黑</vt:lpstr>
      <vt:lpstr>Arial</vt:lpstr>
      <vt:lpstr>Calibri</vt:lpstr>
      <vt:lpstr>Calibri Light</vt:lpstr>
      <vt:lpstr>Times New Roman</vt:lpstr>
      <vt:lpstr>Wingdings</vt:lpstr>
      <vt:lpstr>标题页</vt:lpstr>
      <vt:lpstr>研究内容-通用版</vt:lpstr>
      <vt:lpstr>目录页</vt:lpstr>
      <vt:lpstr>小标题页</vt:lpstr>
      <vt:lpstr>结尾页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望琳 饶</dc:creator>
  <cp:lastModifiedBy>mooncell J</cp:lastModifiedBy>
  <cp:revision>73</cp:revision>
  <dcterms:created xsi:type="dcterms:W3CDTF">2022-10-19T13:07:15Z</dcterms:created>
  <dcterms:modified xsi:type="dcterms:W3CDTF">2026-06-04T13:23:22Z</dcterms:modified>
</cp:coreProperties>
</file>